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4"/>
  </p:sldMasterIdLst>
  <p:sldIdLst>
    <p:sldId id="292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53" d="100"/>
          <a:sy n="15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29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6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2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8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0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63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47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0148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63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52087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599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42962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183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6520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37792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6FA2B21-3FCD-4721-B95C-427943F6112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10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6" y="3050087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635" y="3980922"/>
            <a:ext cx="3640899" cy="10178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sz="1100" dirty="0" err="1">
                <a:solidFill>
                  <a:schemeClr val="tx1"/>
                </a:solidFill>
              </a:rPr>
              <a:t>Platformă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Educațională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Interactivă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pentru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Programare</a:t>
            </a:r>
            <a:endParaRPr lang="en-US" sz="1100" dirty="0">
              <a:solidFill>
                <a:schemeClr val="tx1"/>
              </a:solidFill>
            </a:endParaRPr>
          </a:p>
          <a:p>
            <a:pPr algn="r"/>
            <a:r>
              <a:rPr lang="en-US" sz="1100" dirty="0" err="1">
                <a:solidFill>
                  <a:schemeClr val="tx1"/>
                </a:solidFill>
              </a:rPr>
              <a:t>Proiect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realizat</a:t>
            </a:r>
            <a:r>
              <a:rPr lang="en-US" sz="1100" dirty="0">
                <a:solidFill>
                  <a:schemeClr val="tx1"/>
                </a:solidFill>
              </a:rPr>
              <a:t> de: </a:t>
            </a:r>
            <a:r>
              <a:rPr lang="en-US" sz="1100" dirty="0" err="1">
                <a:solidFill>
                  <a:schemeClr val="tx1"/>
                </a:solidFill>
              </a:rPr>
              <a:t>Perjoc</a:t>
            </a:r>
            <a:r>
              <a:rPr lang="en-US" sz="1100" dirty="0">
                <a:solidFill>
                  <a:schemeClr val="tx1"/>
                </a:solidFill>
              </a:rPr>
              <a:t> Eduard-Mihai, </a:t>
            </a:r>
          </a:p>
          <a:p>
            <a:pPr algn="r"/>
            <a:r>
              <a:rPr lang="en-US" sz="1100" dirty="0" err="1">
                <a:solidFill>
                  <a:schemeClr val="tx1"/>
                </a:solidFill>
              </a:rPr>
              <a:t>Haivas</a:t>
            </a:r>
            <a:r>
              <a:rPr lang="en-US" sz="1100" dirty="0">
                <a:solidFill>
                  <a:schemeClr val="tx1"/>
                </a:solidFill>
              </a:rPr>
              <a:t> Eduard-Andrei.</a:t>
            </a:r>
          </a:p>
          <a:p>
            <a:pPr algn="r"/>
            <a:r>
              <a:rPr lang="en-US" sz="1100" dirty="0" err="1">
                <a:solidFill>
                  <a:schemeClr val="tx1"/>
                </a:solidFill>
              </a:rPr>
              <a:t>Profesor</a:t>
            </a:r>
            <a:r>
              <a:rPr lang="en-US" sz="1100" dirty="0">
                <a:solidFill>
                  <a:schemeClr val="tx1"/>
                </a:solidFill>
              </a:rPr>
              <a:t> coordinator: Rădulescu Ramona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B71419-92B5-CDAB-3B1B-5F3FC9BC8AED}"/>
              </a:ext>
            </a:extLst>
          </p:cNvPr>
          <p:cNvGrpSpPr/>
          <p:nvPr/>
        </p:nvGrpSpPr>
        <p:grpSpPr>
          <a:xfrm>
            <a:off x="3363238" y="6889002"/>
            <a:ext cx="4317769" cy="2073357"/>
            <a:chOff x="785" y="-165752"/>
            <a:chExt cx="4184622" cy="227160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FC7FC5-E863-C956-A33F-A992EFECEB27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BD9479-5106-2645-E3E3-759444DD297F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pic>
        <p:nvPicPr>
          <p:cNvPr id="14" name="Picture 2" descr="Introducere în programare | LINK Academy">
            <a:extLst>
              <a:ext uri="{FF2B5EF4-FFF2-40B4-BE49-F238E27FC236}">
                <a16:creationId xmlns:a16="http://schemas.microsoft.com/office/drawing/2014/main" id="{C781D363-95E1-2667-194C-8DB17168C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40319" y="2586625"/>
            <a:ext cx="4187758" cy="23556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48950EA-7225-9A45-2AE0-73BD6AFC5D11}"/>
              </a:ext>
            </a:extLst>
          </p:cNvPr>
          <p:cNvGrpSpPr/>
          <p:nvPr/>
        </p:nvGrpSpPr>
        <p:grpSpPr>
          <a:xfrm>
            <a:off x="12315230" y="2024742"/>
            <a:ext cx="5896570" cy="3725612"/>
            <a:chOff x="0" y="0"/>
            <a:chExt cx="3182540" cy="37256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9A1F70-C188-0E11-B57F-2B914C27E39E}"/>
                </a:ext>
              </a:extLst>
            </p:cNvPr>
            <p:cNvSpPr/>
            <p:nvPr/>
          </p:nvSpPr>
          <p:spPr>
            <a:xfrm>
              <a:off x="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7DA40C-1297-243F-10AB-EFB0E59D3D1A}"/>
                </a:ext>
              </a:extLst>
            </p:cNvPr>
            <p:cNvSpPr txBox="1"/>
            <p:nvPr/>
          </p:nvSpPr>
          <p:spPr>
            <a:xfrm>
              <a:off x="0" y="229744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prezent</a:t>
              </a:r>
              <a:r>
                <a:rPr lang="en-US" sz="2000" dirty="0"/>
                <a:t>,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programării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adesea</a:t>
              </a:r>
              <a:r>
                <a:rPr lang="en-US" sz="2000" dirty="0"/>
                <a:t> </a:t>
              </a:r>
              <a:r>
                <a:rPr lang="en-US" sz="2000" dirty="0" err="1"/>
                <a:t>percepută</a:t>
              </a:r>
              <a:r>
                <a:rPr lang="en-US" sz="2000" dirty="0"/>
                <a:t> ca </a:t>
              </a:r>
              <a:r>
                <a:rPr lang="en-US" sz="2000" dirty="0" err="1"/>
                <a:t>fiind</a:t>
              </a:r>
              <a:r>
                <a:rPr lang="en-US" sz="2000" dirty="0"/>
                <a:t> </a:t>
              </a:r>
              <a:r>
                <a:rPr lang="en-US" sz="2000" dirty="0" err="1"/>
                <a:t>dificilă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lipsită</a:t>
              </a:r>
              <a:r>
                <a:rPr lang="en-US" sz="2000" dirty="0"/>
                <a:t> de </a:t>
              </a:r>
              <a:r>
                <a:rPr lang="en-US" sz="2000" dirty="0" err="1"/>
                <a:t>interactivitate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Elevii</a:t>
              </a:r>
              <a:r>
                <a:rPr lang="en-US" sz="2000" dirty="0"/>
                <a:t> </a:t>
              </a:r>
              <a:r>
                <a:rPr lang="en-US" sz="2000" dirty="0" err="1"/>
                <a:t>își</a:t>
              </a:r>
              <a:r>
                <a:rPr lang="en-US" sz="2000" dirty="0"/>
                <a:t> </a:t>
              </a:r>
              <a:r>
                <a:rPr lang="en-US" sz="2000" dirty="0" err="1"/>
                <a:t>pierd</a:t>
              </a:r>
              <a:r>
                <a:rPr lang="en-US" sz="2000" dirty="0"/>
                <a:t> </a:t>
              </a:r>
              <a:r>
                <a:rPr lang="en-US" sz="2000" dirty="0" err="1"/>
                <a:t>interesul</a:t>
              </a:r>
              <a:r>
                <a:rPr lang="en-US" sz="2000" dirty="0"/>
                <a:t> rapid </a:t>
              </a:r>
              <a:r>
                <a:rPr lang="en-US" sz="2000" dirty="0" err="1"/>
                <a:t>atunci</a:t>
              </a:r>
              <a:r>
                <a:rPr lang="en-US" sz="2000" dirty="0"/>
                <a:t> </a:t>
              </a:r>
              <a:r>
                <a:rPr lang="en-US" sz="2000" dirty="0" err="1"/>
                <a:t>când</a:t>
              </a:r>
              <a:r>
                <a:rPr lang="en-US" sz="2000" dirty="0"/>
                <a:t> nu </a:t>
              </a:r>
              <a:r>
                <a:rPr lang="en-US" sz="2000" dirty="0" err="1"/>
                <a:t>există</a:t>
              </a:r>
              <a:r>
                <a:rPr lang="en-US" sz="2000" dirty="0"/>
                <a:t> feedback instant </a:t>
              </a:r>
              <a:r>
                <a:rPr lang="en-US" sz="2000" dirty="0" err="1"/>
                <a:t>sau</a:t>
              </a:r>
              <a:r>
                <a:rPr lang="en-US" sz="2000" dirty="0"/>
                <a:t> </a:t>
              </a:r>
              <a:r>
                <a:rPr lang="en-US" sz="2000" dirty="0" err="1"/>
                <a:t>motivație</a:t>
              </a:r>
              <a:r>
                <a:rPr lang="en-US" sz="2000" dirty="0"/>
                <a:t> </a:t>
              </a:r>
              <a:r>
                <a:rPr lang="en-US" sz="2000" dirty="0" err="1"/>
                <a:t>vizuală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Mentora </a:t>
              </a:r>
              <a:r>
                <a:rPr lang="en-US" sz="2000" dirty="0" err="1"/>
                <a:t>propune</a:t>
              </a:r>
              <a:r>
                <a:rPr lang="en-US" sz="2000" dirty="0"/>
                <a:t> o </a:t>
              </a:r>
              <a:r>
                <a:rPr lang="en-US" sz="2000" dirty="0" err="1"/>
                <a:t>abordare</a:t>
              </a:r>
              <a:r>
                <a:rPr lang="en-US" sz="2000" dirty="0"/>
                <a:t> </a:t>
              </a:r>
              <a:r>
                <a:rPr lang="en-US" sz="2000" dirty="0" err="1"/>
                <a:t>diferită</a:t>
              </a:r>
              <a:r>
                <a:rPr lang="en-US" sz="2000" dirty="0"/>
                <a:t>, </a:t>
              </a:r>
              <a:r>
                <a:rPr lang="en-US" sz="2000" dirty="0" err="1"/>
                <a:t>bazată</a:t>
              </a:r>
              <a:r>
                <a:rPr lang="en-US" sz="2000" dirty="0"/>
                <a:t> pe </a:t>
              </a:r>
              <a:r>
                <a:rPr lang="en-US" sz="2000" dirty="0" err="1"/>
                <a:t>gamificare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interacțiune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</a:t>
              </a:r>
              <a:r>
                <a:rPr lang="en-US" sz="2000" dirty="0"/>
                <a:t> real.</a:t>
              </a:r>
              <a:br>
                <a:rPr lang="en-US" sz="2000" dirty="0"/>
              </a:br>
              <a:r>
                <a:rPr lang="en-US" sz="2000" dirty="0" err="1"/>
                <a:t>Platforma</a:t>
              </a:r>
              <a:r>
                <a:rPr lang="en-US" sz="2000" dirty="0"/>
                <a:t> </a:t>
              </a:r>
              <a:r>
                <a:rPr lang="en-US" sz="2000" dirty="0" err="1"/>
                <a:t>combină</a:t>
              </a:r>
              <a:r>
                <a:rPr lang="en-US" sz="2000" dirty="0"/>
                <a:t>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teoretică</a:t>
              </a:r>
              <a:r>
                <a:rPr lang="en-US" sz="2000" dirty="0"/>
                <a:t> cu </a:t>
              </a:r>
              <a:r>
                <a:rPr lang="en-US" sz="2000" dirty="0" err="1"/>
                <a:t>experiențe</a:t>
              </a:r>
              <a:r>
                <a:rPr lang="en-US" sz="2000" dirty="0"/>
                <a:t> practice </a:t>
              </a:r>
              <a:r>
                <a:rPr lang="en-US" sz="2000" dirty="0" err="1"/>
                <a:t>într</a:t>
              </a:r>
              <a:r>
                <a:rPr lang="en-US" sz="2000" dirty="0"/>
                <a:t>-un </a:t>
              </a:r>
              <a:r>
                <a:rPr lang="en-US" sz="2000" dirty="0" err="1"/>
                <a:t>mediu</a:t>
              </a:r>
              <a:r>
                <a:rPr lang="en-US" sz="2000" dirty="0"/>
                <a:t> 3D.</a:t>
              </a: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BF6A4-8FBE-3C19-BCBA-30E06805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ECA8D48-D58B-008D-EB1D-B6B4C755F3F8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11E5E4-BD32-BE6A-337F-08DF9439099D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066EE-DD9D-F5D4-63A3-95F5FCB6BAD9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5B283F-0948-CEB3-4423-091C55F49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8D995-C0F6-FB58-5F80-D2B32FC1F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822453" y="3980922"/>
            <a:ext cx="3640899" cy="10178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sz="1100" dirty="0" err="1">
                <a:solidFill>
                  <a:schemeClr val="tx1"/>
                </a:solidFill>
              </a:rPr>
              <a:t>Platformă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Educațională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Interactivă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pentru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Programare</a:t>
            </a:r>
            <a:endParaRPr lang="en-US" sz="1100" dirty="0">
              <a:solidFill>
                <a:schemeClr val="tx1"/>
              </a:solidFill>
            </a:endParaRPr>
          </a:p>
          <a:p>
            <a:pPr algn="r"/>
            <a:r>
              <a:rPr lang="en-US" sz="1100" dirty="0" err="1">
                <a:solidFill>
                  <a:schemeClr val="tx1"/>
                </a:solidFill>
              </a:rPr>
              <a:t>Proiect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realizat</a:t>
            </a:r>
            <a:r>
              <a:rPr lang="en-US" sz="1100" dirty="0">
                <a:solidFill>
                  <a:schemeClr val="tx1"/>
                </a:solidFill>
              </a:rPr>
              <a:t> de: </a:t>
            </a:r>
            <a:r>
              <a:rPr lang="en-US" sz="1100" dirty="0" err="1">
                <a:solidFill>
                  <a:schemeClr val="tx1"/>
                </a:solidFill>
              </a:rPr>
              <a:t>Perjoc</a:t>
            </a:r>
            <a:r>
              <a:rPr lang="en-US" sz="1100" dirty="0">
                <a:solidFill>
                  <a:schemeClr val="tx1"/>
                </a:solidFill>
              </a:rPr>
              <a:t> Eduard-Mihai, </a:t>
            </a:r>
          </a:p>
          <a:p>
            <a:pPr algn="r"/>
            <a:r>
              <a:rPr lang="en-US" sz="1100" dirty="0" err="1">
                <a:solidFill>
                  <a:schemeClr val="tx1"/>
                </a:solidFill>
              </a:rPr>
              <a:t>Haivas</a:t>
            </a:r>
            <a:r>
              <a:rPr lang="en-US" sz="1100" dirty="0">
                <a:solidFill>
                  <a:schemeClr val="tx1"/>
                </a:solidFill>
              </a:rPr>
              <a:t> Eduard-Andrei.</a:t>
            </a:r>
          </a:p>
          <a:p>
            <a:pPr algn="r"/>
            <a:r>
              <a:rPr lang="en-US" sz="1100" dirty="0" err="1">
                <a:solidFill>
                  <a:schemeClr val="tx1"/>
                </a:solidFill>
              </a:rPr>
              <a:t>Profesor</a:t>
            </a:r>
            <a:r>
              <a:rPr lang="en-US" sz="1100" dirty="0">
                <a:solidFill>
                  <a:schemeClr val="tx1"/>
                </a:solidFill>
              </a:rPr>
              <a:t> coordinator: Rădulescu Ramona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757F3E-644C-F97F-54FA-D5EBA888BAB9}"/>
              </a:ext>
            </a:extLst>
          </p:cNvPr>
          <p:cNvGrpSpPr/>
          <p:nvPr/>
        </p:nvGrpSpPr>
        <p:grpSpPr>
          <a:xfrm>
            <a:off x="967780" y="2024742"/>
            <a:ext cx="5896570" cy="3725612"/>
            <a:chOff x="0" y="0"/>
            <a:chExt cx="3182540" cy="37256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390CEAD-A71A-3E3E-3BBC-39A379B5DE1C}"/>
                </a:ext>
              </a:extLst>
            </p:cNvPr>
            <p:cNvSpPr/>
            <p:nvPr/>
          </p:nvSpPr>
          <p:spPr>
            <a:xfrm>
              <a:off x="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AA8E8F-26D2-D913-060A-04909DE072C3}"/>
                </a:ext>
              </a:extLst>
            </p:cNvPr>
            <p:cNvSpPr txBox="1"/>
            <p:nvPr/>
          </p:nvSpPr>
          <p:spPr>
            <a:xfrm>
              <a:off x="0" y="229744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prezent</a:t>
              </a:r>
              <a:r>
                <a:rPr lang="en-US" sz="2000" dirty="0"/>
                <a:t>,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programării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adesea</a:t>
              </a:r>
              <a:r>
                <a:rPr lang="en-US" sz="2000" dirty="0"/>
                <a:t> </a:t>
              </a:r>
              <a:r>
                <a:rPr lang="en-US" sz="2000" dirty="0" err="1"/>
                <a:t>percepută</a:t>
              </a:r>
              <a:r>
                <a:rPr lang="en-US" sz="2000" dirty="0"/>
                <a:t> ca </a:t>
              </a:r>
              <a:r>
                <a:rPr lang="en-US" sz="2000" dirty="0" err="1"/>
                <a:t>fiind</a:t>
              </a:r>
              <a:r>
                <a:rPr lang="en-US" sz="2000" dirty="0"/>
                <a:t> </a:t>
              </a:r>
              <a:r>
                <a:rPr lang="en-US" sz="2000" dirty="0" err="1"/>
                <a:t>dificilă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lipsită</a:t>
              </a:r>
              <a:r>
                <a:rPr lang="en-US" sz="2000" dirty="0"/>
                <a:t> de </a:t>
              </a:r>
              <a:r>
                <a:rPr lang="en-US" sz="2000" dirty="0" err="1"/>
                <a:t>interactivitate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Elevii</a:t>
              </a:r>
              <a:r>
                <a:rPr lang="en-US" sz="2000" dirty="0"/>
                <a:t> </a:t>
              </a:r>
              <a:r>
                <a:rPr lang="en-US" sz="2000" dirty="0" err="1"/>
                <a:t>își</a:t>
              </a:r>
              <a:r>
                <a:rPr lang="en-US" sz="2000" dirty="0"/>
                <a:t> </a:t>
              </a:r>
              <a:r>
                <a:rPr lang="en-US" sz="2000" dirty="0" err="1"/>
                <a:t>pierd</a:t>
              </a:r>
              <a:r>
                <a:rPr lang="en-US" sz="2000" dirty="0"/>
                <a:t> </a:t>
              </a:r>
              <a:r>
                <a:rPr lang="en-US" sz="2000" dirty="0" err="1"/>
                <a:t>interesul</a:t>
              </a:r>
              <a:r>
                <a:rPr lang="en-US" sz="2000" dirty="0"/>
                <a:t> rapid </a:t>
              </a:r>
              <a:r>
                <a:rPr lang="en-US" sz="2000" dirty="0" err="1"/>
                <a:t>atunci</a:t>
              </a:r>
              <a:r>
                <a:rPr lang="en-US" sz="2000" dirty="0"/>
                <a:t> </a:t>
              </a:r>
              <a:r>
                <a:rPr lang="en-US" sz="2000" dirty="0" err="1"/>
                <a:t>când</a:t>
              </a:r>
              <a:r>
                <a:rPr lang="en-US" sz="2000" dirty="0"/>
                <a:t> nu </a:t>
              </a:r>
              <a:r>
                <a:rPr lang="en-US" sz="2000" dirty="0" err="1"/>
                <a:t>există</a:t>
              </a:r>
              <a:r>
                <a:rPr lang="en-US" sz="2000" dirty="0"/>
                <a:t> feedback instant </a:t>
              </a:r>
              <a:r>
                <a:rPr lang="en-US" sz="2000" dirty="0" err="1"/>
                <a:t>sau</a:t>
              </a:r>
              <a:r>
                <a:rPr lang="en-US" sz="2000" dirty="0"/>
                <a:t> </a:t>
              </a:r>
              <a:r>
                <a:rPr lang="en-US" sz="2000" dirty="0" err="1"/>
                <a:t>motivație</a:t>
              </a:r>
              <a:r>
                <a:rPr lang="en-US" sz="2000" dirty="0"/>
                <a:t> </a:t>
              </a:r>
              <a:r>
                <a:rPr lang="en-US" sz="2000" dirty="0" err="1"/>
                <a:t>vizuală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Mentora </a:t>
              </a:r>
              <a:r>
                <a:rPr lang="en-US" sz="2000" dirty="0" err="1"/>
                <a:t>propune</a:t>
              </a:r>
              <a:r>
                <a:rPr lang="en-US" sz="2000" dirty="0"/>
                <a:t> o </a:t>
              </a:r>
              <a:r>
                <a:rPr lang="en-US" sz="2000" dirty="0" err="1"/>
                <a:t>abordare</a:t>
              </a:r>
              <a:r>
                <a:rPr lang="en-US" sz="2000" dirty="0"/>
                <a:t> </a:t>
              </a:r>
              <a:r>
                <a:rPr lang="en-US" sz="2000" dirty="0" err="1"/>
                <a:t>diferită</a:t>
              </a:r>
              <a:r>
                <a:rPr lang="en-US" sz="2000" dirty="0"/>
                <a:t>, </a:t>
              </a:r>
              <a:r>
                <a:rPr lang="en-US" sz="2000" dirty="0" err="1"/>
                <a:t>bazată</a:t>
              </a:r>
              <a:r>
                <a:rPr lang="en-US" sz="2000" dirty="0"/>
                <a:t> pe </a:t>
              </a:r>
              <a:r>
                <a:rPr lang="en-US" sz="2000" dirty="0" err="1"/>
                <a:t>gamificare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interacțiune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</a:t>
              </a:r>
              <a:r>
                <a:rPr lang="en-US" sz="2000" dirty="0"/>
                <a:t> real.</a:t>
              </a:r>
              <a:br>
                <a:rPr lang="en-US" sz="2000" dirty="0"/>
              </a:br>
              <a:r>
                <a:rPr lang="en-US" sz="2000" dirty="0" err="1"/>
                <a:t>Platforma</a:t>
              </a:r>
              <a:r>
                <a:rPr lang="en-US" sz="2000" dirty="0"/>
                <a:t> </a:t>
              </a:r>
              <a:r>
                <a:rPr lang="en-US" sz="2000" dirty="0" err="1"/>
                <a:t>combină</a:t>
              </a:r>
              <a:r>
                <a:rPr lang="en-US" sz="2000" dirty="0"/>
                <a:t>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teoretică</a:t>
              </a:r>
              <a:r>
                <a:rPr lang="en-US" sz="2000" dirty="0"/>
                <a:t> cu </a:t>
              </a:r>
              <a:r>
                <a:rPr lang="en-US" sz="2000" dirty="0" err="1"/>
                <a:t>experiențe</a:t>
              </a:r>
              <a:r>
                <a:rPr lang="en-US" sz="2000" dirty="0"/>
                <a:t> practice </a:t>
              </a:r>
              <a:r>
                <a:rPr lang="en-US" sz="2000" dirty="0" err="1"/>
                <a:t>într</a:t>
              </a:r>
              <a:r>
                <a:rPr lang="en-US" sz="2000" dirty="0"/>
                <a:t>-un </a:t>
              </a:r>
              <a:r>
                <a:rPr lang="en-US" sz="2000" dirty="0" err="1"/>
                <a:t>mediu</a:t>
              </a:r>
              <a:r>
                <a:rPr lang="en-US" sz="2000" dirty="0"/>
                <a:t> 3D.</a:t>
              </a:r>
              <a:endParaRPr lang="en-US" sz="2000" kern="1200" dirty="0"/>
            </a:p>
          </p:txBody>
        </p:sp>
      </p:grpSp>
      <p:pic>
        <p:nvPicPr>
          <p:cNvPr id="1026" name="Picture 2" descr="Introducere în programare | LINK Academy">
            <a:extLst>
              <a:ext uri="{FF2B5EF4-FFF2-40B4-BE49-F238E27FC236}">
                <a16:creationId xmlns:a16="http://schemas.microsoft.com/office/drawing/2014/main" id="{644682A4-D558-FB53-D59D-8C281BCEF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029" y="2586625"/>
            <a:ext cx="4187758" cy="23556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232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33DDB-6B29-53F6-00DD-729FD3EC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DE09C5-5CFE-C7C0-7C25-986120CB0F19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AF9940-9F51-92E8-1CF6-A5B3ECDD8739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9E5F0D-F4A5-F8F8-BA4A-32F005EE6C03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039645-8A66-407E-D694-4193D620A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3425F1-1158-5129-21DE-694BC17C302E}"/>
              </a:ext>
            </a:extLst>
          </p:cNvPr>
          <p:cNvGrpSpPr/>
          <p:nvPr/>
        </p:nvGrpSpPr>
        <p:grpSpPr>
          <a:xfrm>
            <a:off x="967780" y="6958692"/>
            <a:ext cx="5896570" cy="3725612"/>
            <a:chOff x="0" y="0"/>
            <a:chExt cx="3182540" cy="37256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E53554B-6B37-6C76-8643-F6B0CC593EFA}"/>
                </a:ext>
              </a:extLst>
            </p:cNvPr>
            <p:cNvSpPr/>
            <p:nvPr/>
          </p:nvSpPr>
          <p:spPr>
            <a:xfrm>
              <a:off x="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4CCA1D-A220-3FA1-A48C-111D5003A9A0}"/>
                </a:ext>
              </a:extLst>
            </p:cNvPr>
            <p:cNvSpPr txBox="1"/>
            <p:nvPr/>
          </p:nvSpPr>
          <p:spPr>
            <a:xfrm>
              <a:off x="0" y="229744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prezent</a:t>
              </a:r>
              <a:r>
                <a:rPr lang="en-US" sz="2000" dirty="0"/>
                <a:t>,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programării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adesea</a:t>
              </a:r>
              <a:r>
                <a:rPr lang="en-US" sz="2000" dirty="0"/>
                <a:t> </a:t>
              </a:r>
              <a:r>
                <a:rPr lang="en-US" sz="2000" dirty="0" err="1"/>
                <a:t>percepută</a:t>
              </a:r>
              <a:r>
                <a:rPr lang="en-US" sz="2000" dirty="0"/>
                <a:t> ca </a:t>
              </a:r>
              <a:r>
                <a:rPr lang="en-US" sz="2000" dirty="0" err="1"/>
                <a:t>fiind</a:t>
              </a:r>
              <a:r>
                <a:rPr lang="en-US" sz="2000" dirty="0"/>
                <a:t> </a:t>
              </a:r>
              <a:r>
                <a:rPr lang="en-US" sz="2000" dirty="0" err="1"/>
                <a:t>dificilă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lipsită</a:t>
              </a:r>
              <a:r>
                <a:rPr lang="en-US" sz="2000" dirty="0"/>
                <a:t> de </a:t>
              </a:r>
              <a:r>
                <a:rPr lang="en-US" sz="2000" dirty="0" err="1"/>
                <a:t>interactivitate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Elevii</a:t>
              </a:r>
              <a:r>
                <a:rPr lang="en-US" sz="2000" dirty="0"/>
                <a:t> </a:t>
              </a:r>
              <a:r>
                <a:rPr lang="en-US" sz="2000" dirty="0" err="1"/>
                <a:t>își</a:t>
              </a:r>
              <a:r>
                <a:rPr lang="en-US" sz="2000" dirty="0"/>
                <a:t> </a:t>
              </a:r>
              <a:r>
                <a:rPr lang="en-US" sz="2000" dirty="0" err="1"/>
                <a:t>pierd</a:t>
              </a:r>
              <a:r>
                <a:rPr lang="en-US" sz="2000" dirty="0"/>
                <a:t> </a:t>
              </a:r>
              <a:r>
                <a:rPr lang="en-US" sz="2000" dirty="0" err="1"/>
                <a:t>interesul</a:t>
              </a:r>
              <a:r>
                <a:rPr lang="en-US" sz="2000" dirty="0"/>
                <a:t> rapid </a:t>
              </a:r>
              <a:r>
                <a:rPr lang="en-US" sz="2000" dirty="0" err="1"/>
                <a:t>atunci</a:t>
              </a:r>
              <a:r>
                <a:rPr lang="en-US" sz="2000" dirty="0"/>
                <a:t> </a:t>
              </a:r>
              <a:r>
                <a:rPr lang="en-US" sz="2000" dirty="0" err="1"/>
                <a:t>când</a:t>
              </a:r>
              <a:r>
                <a:rPr lang="en-US" sz="2000" dirty="0"/>
                <a:t> nu </a:t>
              </a:r>
              <a:r>
                <a:rPr lang="en-US" sz="2000" dirty="0" err="1"/>
                <a:t>există</a:t>
              </a:r>
              <a:r>
                <a:rPr lang="en-US" sz="2000" dirty="0"/>
                <a:t> feedback instant </a:t>
              </a:r>
              <a:r>
                <a:rPr lang="en-US" sz="2000" dirty="0" err="1"/>
                <a:t>sau</a:t>
              </a:r>
              <a:r>
                <a:rPr lang="en-US" sz="2000" dirty="0"/>
                <a:t> </a:t>
              </a:r>
              <a:r>
                <a:rPr lang="en-US" sz="2000" dirty="0" err="1"/>
                <a:t>motivație</a:t>
              </a:r>
              <a:r>
                <a:rPr lang="en-US" sz="2000" dirty="0"/>
                <a:t> </a:t>
              </a:r>
              <a:r>
                <a:rPr lang="en-US" sz="2000" dirty="0" err="1"/>
                <a:t>vizuală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Mentora </a:t>
              </a:r>
              <a:r>
                <a:rPr lang="en-US" sz="2000" dirty="0" err="1"/>
                <a:t>propune</a:t>
              </a:r>
              <a:r>
                <a:rPr lang="en-US" sz="2000" dirty="0"/>
                <a:t> o </a:t>
              </a:r>
              <a:r>
                <a:rPr lang="en-US" sz="2000" dirty="0" err="1"/>
                <a:t>abordare</a:t>
              </a:r>
              <a:r>
                <a:rPr lang="en-US" sz="2000" dirty="0"/>
                <a:t> </a:t>
              </a:r>
              <a:r>
                <a:rPr lang="en-US" sz="2000" dirty="0" err="1"/>
                <a:t>diferită</a:t>
              </a:r>
              <a:r>
                <a:rPr lang="en-US" sz="2000" dirty="0"/>
                <a:t>, </a:t>
              </a:r>
              <a:r>
                <a:rPr lang="en-US" sz="2000" dirty="0" err="1"/>
                <a:t>bazată</a:t>
              </a:r>
              <a:r>
                <a:rPr lang="en-US" sz="2000" dirty="0"/>
                <a:t> pe </a:t>
              </a:r>
              <a:r>
                <a:rPr lang="en-US" sz="2000" dirty="0" err="1"/>
                <a:t>gamificare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interacțiune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</a:t>
              </a:r>
              <a:r>
                <a:rPr lang="en-US" sz="2000" dirty="0"/>
                <a:t> real.</a:t>
              </a:r>
              <a:br>
                <a:rPr lang="en-US" sz="2000" dirty="0"/>
              </a:br>
              <a:r>
                <a:rPr lang="en-US" sz="2000" dirty="0" err="1"/>
                <a:t>Platforma</a:t>
              </a:r>
              <a:r>
                <a:rPr lang="en-US" sz="2000" dirty="0"/>
                <a:t> </a:t>
              </a:r>
              <a:r>
                <a:rPr lang="en-US" sz="2000" dirty="0" err="1"/>
                <a:t>combină</a:t>
              </a:r>
              <a:r>
                <a:rPr lang="en-US" sz="2000" dirty="0"/>
                <a:t>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teoretică</a:t>
              </a:r>
              <a:r>
                <a:rPr lang="en-US" sz="2000" dirty="0"/>
                <a:t> cu </a:t>
              </a:r>
              <a:r>
                <a:rPr lang="en-US" sz="2000" dirty="0" err="1"/>
                <a:t>experiențe</a:t>
              </a:r>
              <a:r>
                <a:rPr lang="en-US" sz="2000" dirty="0"/>
                <a:t> practice </a:t>
              </a:r>
              <a:r>
                <a:rPr lang="en-US" sz="2000" dirty="0" err="1"/>
                <a:t>într</a:t>
              </a:r>
              <a:r>
                <a:rPr lang="en-US" sz="2000" dirty="0"/>
                <a:t>-un </a:t>
              </a:r>
              <a:r>
                <a:rPr lang="en-US" sz="2000" dirty="0" err="1"/>
                <a:t>mediu</a:t>
              </a:r>
              <a:r>
                <a:rPr lang="en-US" sz="2000" dirty="0"/>
                <a:t> 3D.</a:t>
              </a:r>
              <a:endParaRPr lang="en-US" sz="2000" kern="1200" dirty="0"/>
            </a:p>
          </p:txBody>
        </p:sp>
      </p:grpSp>
      <p:pic>
        <p:nvPicPr>
          <p:cNvPr id="1026" name="Picture 2" descr="Introducere în programare | LINK Academy">
            <a:extLst>
              <a:ext uri="{FF2B5EF4-FFF2-40B4-BE49-F238E27FC236}">
                <a16:creationId xmlns:a16="http://schemas.microsoft.com/office/drawing/2014/main" id="{90A84661-625D-FCC5-17FC-F0606413A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029" y="7260225"/>
            <a:ext cx="4187758" cy="23556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5052B29-EAB6-D290-6D73-2A8430725AFB}"/>
              </a:ext>
            </a:extLst>
          </p:cNvPr>
          <p:cNvGrpSpPr/>
          <p:nvPr/>
        </p:nvGrpSpPr>
        <p:grpSpPr>
          <a:xfrm>
            <a:off x="5827868" y="2312840"/>
            <a:ext cx="5896570" cy="3725612"/>
            <a:chOff x="0" y="0"/>
            <a:chExt cx="3182540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64856C-72B0-E047-41A0-1298E56D027A}"/>
                </a:ext>
              </a:extLst>
            </p:cNvPr>
            <p:cNvSpPr/>
            <p:nvPr/>
          </p:nvSpPr>
          <p:spPr>
            <a:xfrm>
              <a:off x="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2AE1BE-3A67-2878-E1FE-1E5199E99907}"/>
                </a:ext>
              </a:extLst>
            </p:cNvPr>
            <p:cNvSpPr txBox="1"/>
            <p:nvPr/>
          </p:nvSpPr>
          <p:spPr>
            <a:xfrm>
              <a:off x="0" y="229744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Majoritatea</a:t>
              </a:r>
              <a:r>
                <a:rPr lang="en-US" sz="2000" dirty="0"/>
                <a:t> </a:t>
              </a:r>
              <a:r>
                <a:rPr lang="en-US" sz="2000" dirty="0" err="1"/>
                <a:t>platformelor</a:t>
              </a:r>
              <a:r>
                <a:rPr lang="en-US" sz="2000" dirty="0"/>
                <a:t> </a:t>
              </a:r>
              <a:r>
                <a:rPr lang="en-US" sz="2000" dirty="0" err="1"/>
                <a:t>existente</a:t>
              </a:r>
              <a:r>
                <a:rPr lang="en-US" sz="2000" dirty="0"/>
                <a:t> nu </a:t>
              </a:r>
              <a:r>
                <a:rPr lang="en-US" sz="2000" dirty="0" err="1"/>
                <a:t>oferă</a:t>
              </a:r>
              <a:r>
                <a:rPr lang="en-US" sz="2000" dirty="0"/>
                <a:t> o </a:t>
              </a:r>
              <a:r>
                <a:rPr lang="en-US" sz="2000" dirty="0" err="1"/>
                <a:t>experiență</a:t>
              </a:r>
              <a:r>
                <a:rPr lang="en-US" sz="2000" dirty="0"/>
                <a:t> </a:t>
              </a:r>
              <a:r>
                <a:rPr lang="en-US" sz="2000" dirty="0" err="1"/>
                <a:t>completă</a:t>
              </a:r>
              <a:r>
                <a:rPr lang="en-US" sz="2000" dirty="0"/>
                <a:t> de </a:t>
              </a:r>
              <a:r>
                <a:rPr lang="en-US" sz="2000" dirty="0" err="1"/>
                <a:t>învățare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Unele</a:t>
              </a:r>
              <a:r>
                <a:rPr lang="en-US" sz="2000" dirty="0"/>
                <a:t> sunt </a:t>
              </a:r>
              <a:r>
                <a:rPr lang="en-US" sz="2000" dirty="0" err="1"/>
                <a:t>prea</a:t>
              </a:r>
              <a:r>
                <a:rPr lang="en-US" sz="2000" dirty="0"/>
                <a:t> simple </a:t>
              </a:r>
              <a:r>
                <a:rPr lang="en-US" sz="2000" dirty="0" err="1"/>
                <a:t>și</a:t>
              </a:r>
              <a:r>
                <a:rPr lang="en-US" sz="2000" dirty="0"/>
                <a:t> nu permit </a:t>
              </a:r>
              <a:r>
                <a:rPr lang="en-US" sz="2000" dirty="0" err="1"/>
                <a:t>execuția</a:t>
              </a:r>
              <a:r>
                <a:rPr lang="en-US" sz="2000" dirty="0"/>
                <a:t> </a:t>
              </a:r>
              <a:r>
                <a:rPr lang="en-US" sz="2000" dirty="0" err="1"/>
                <a:t>reală</a:t>
              </a:r>
              <a:r>
                <a:rPr lang="en-US" sz="2000" dirty="0"/>
                <a:t> a </a:t>
              </a:r>
              <a:r>
                <a:rPr lang="en-US" sz="2000" dirty="0" err="1"/>
                <a:t>codului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Altele</a:t>
              </a:r>
              <a:r>
                <a:rPr lang="en-US" sz="2000" dirty="0"/>
                <a:t> sunt </a:t>
              </a:r>
              <a:r>
                <a:rPr lang="en-US" sz="2000" dirty="0" err="1"/>
                <a:t>prea</a:t>
              </a:r>
              <a:r>
                <a:rPr lang="en-US" sz="2000" dirty="0"/>
                <a:t> </a:t>
              </a:r>
              <a:r>
                <a:rPr lang="en-US" sz="2000" dirty="0" err="1"/>
                <a:t>complexe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nu sunt </a:t>
              </a:r>
              <a:r>
                <a:rPr lang="en-US" sz="2000" dirty="0" err="1"/>
                <a:t>atractive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începători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De </a:t>
              </a:r>
              <a:r>
                <a:rPr lang="en-US" sz="2000" dirty="0" err="1"/>
                <a:t>asemenea</a:t>
              </a:r>
              <a:r>
                <a:rPr lang="en-US" sz="2000" dirty="0"/>
                <a:t>, </a:t>
              </a:r>
              <a:r>
                <a:rPr lang="en-US" sz="2000" dirty="0" err="1"/>
                <a:t>lipsește</a:t>
              </a:r>
              <a:r>
                <a:rPr lang="en-US" sz="2000" dirty="0"/>
                <a:t> </a:t>
              </a:r>
              <a:r>
                <a:rPr lang="en-US" sz="2000" dirty="0" err="1"/>
                <a:t>integrarea</a:t>
              </a:r>
              <a:r>
                <a:rPr lang="en-US" sz="2000" dirty="0"/>
                <a:t> </a:t>
              </a:r>
              <a:r>
                <a:rPr lang="en-US" sz="2000" dirty="0" err="1"/>
                <a:t>controlului</a:t>
              </a:r>
              <a:r>
                <a:rPr lang="en-US" sz="2000" dirty="0"/>
                <a:t> parental </a:t>
              </a:r>
              <a:r>
                <a:rPr lang="en-US" sz="2000" dirty="0" err="1"/>
                <a:t>și</a:t>
              </a:r>
              <a:r>
                <a:rPr lang="en-US" sz="2000" dirty="0"/>
                <a:t> a </a:t>
              </a:r>
              <a:r>
                <a:rPr lang="en-US" sz="2000" dirty="0" err="1"/>
                <a:t>evaluării</a:t>
              </a:r>
              <a:r>
                <a:rPr lang="en-US" sz="2000" dirty="0"/>
                <a:t> </a:t>
              </a:r>
              <a:r>
                <a:rPr lang="en-US" sz="2000" dirty="0" err="1"/>
                <a:t>inteligente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Aceste</a:t>
              </a:r>
              <a:r>
                <a:rPr lang="en-US" sz="2000" dirty="0"/>
                <a:t> </a:t>
              </a:r>
              <a:r>
                <a:rPr lang="en-US" sz="2000" dirty="0" err="1"/>
                <a:t>limitări</a:t>
              </a:r>
              <a:r>
                <a:rPr lang="en-US" sz="2000" dirty="0"/>
                <a:t> </a:t>
              </a:r>
              <a:r>
                <a:rPr lang="en-US" sz="2000" dirty="0" err="1"/>
                <a:t>reduc</a:t>
              </a:r>
              <a:r>
                <a:rPr lang="en-US" sz="2000" dirty="0"/>
                <a:t> </a:t>
              </a:r>
              <a:r>
                <a:rPr lang="en-US" sz="2000" dirty="0" err="1"/>
                <a:t>eficiența</a:t>
              </a:r>
              <a:r>
                <a:rPr lang="en-US" sz="2000" dirty="0"/>
                <a:t> </a:t>
              </a:r>
              <a:r>
                <a:rPr lang="en-US" sz="2000" dirty="0" err="1"/>
                <a:t>procesului</a:t>
              </a:r>
              <a:r>
                <a:rPr lang="en-US" sz="2000" dirty="0"/>
                <a:t> </a:t>
              </a:r>
              <a:r>
                <a:rPr lang="en-US" sz="2000" dirty="0" err="1"/>
                <a:t>educațional</a:t>
              </a:r>
              <a:r>
                <a:rPr lang="en-US" sz="2000" dirty="0"/>
                <a:t>.</a:t>
              </a:r>
              <a:endParaRPr lang="en-US" sz="2000" kern="12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5EADF4F-CC9A-635C-C267-76BCDB0B405B}"/>
              </a:ext>
            </a:extLst>
          </p:cNvPr>
          <p:cNvSpPr txBox="1"/>
          <p:nvPr/>
        </p:nvSpPr>
        <p:spPr>
          <a:xfrm>
            <a:off x="-1" y="16196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 err="1"/>
              <a:t>Problema</a:t>
            </a:r>
            <a:r>
              <a:rPr lang="en-US" sz="2500" b="1" dirty="0"/>
              <a:t> </a:t>
            </a:r>
            <a:r>
              <a:rPr lang="en-US" sz="2500" b="1" dirty="0" err="1"/>
              <a:t>identificată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72838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3FBC1-2FEB-BBE6-1DDC-47E62D401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3538FA-4BA0-5FF1-63DF-1530E80C8E2A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62C30A-CF60-7689-9094-FC93139690A5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6DCF02-248C-71C7-F724-9262BE8C9008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3D57B9-682F-A3D8-43CB-D5C099D1C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B352AD-A3BF-9DE8-FE4E-35871AF52177}"/>
              </a:ext>
            </a:extLst>
          </p:cNvPr>
          <p:cNvGrpSpPr/>
          <p:nvPr/>
        </p:nvGrpSpPr>
        <p:grpSpPr>
          <a:xfrm>
            <a:off x="485529" y="2312840"/>
            <a:ext cx="5896570" cy="3725612"/>
            <a:chOff x="0" y="0"/>
            <a:chExt cx="3182540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7180FC-0CA1-27F9-87BC-1105690A682E}"/>
                </a:ext>
              </a:extLst>
            </p:cNvPr>
            <p:cNvSpPr/>
            <p:nvPr/>
          </p:nvSpPr>
          <p:spPr>
            <a:xfrm>
              <a:off x="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6FBB067-577B-05B9-F243-495E792A4D83}"/>
                </a:ext>
              </a:extLst>
            </p:cNvPr>
            <p:cNvSpPr txBox="1"/>
            <p:nvPr/>
          </p:nvSpPr>
          <p:spPr>
            <a:xfrm>
              <a:off x="0" y="229744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/>
                <a:t>Mentora introduce un </a:t>
              </a:r>
              <a:r>
                <a:rPr lang="en-US" dirty="0" err="1"/>
                <a:t>ecosistem</a:t>
              </a:r>
              <a:r>
                <a:rPr lang="en-US" dirty="0"/>
                <a:t> </a:t>
              </a:r>
              <a:r>
                <a:rPr lang="en-US" dirty="0" err="1"/>
                <a:t>educațional</a:t>
              </a:r>
              <a:r>
                <a:rPr lang="en-US" dirty="0"/>
                <a:t> </a:t>
              </a:r>
              <a:r>
                <a:rPr lang="en-US" dirty="0" err="1"/>
                <a:t>complet</a:t>
              </a:r>
              <a:r>
                <a:rPr lang="en-US" dirty="0"/>
                <a:t>, </a:t>
              </a:r>
              <a:r>
                <a:rPr lang="en-US" dirty="0" err="1"/>
                <a:t>integrat</a:t>
              </a:r>
              <a:r>
                <a:rPr lang="en-US" dirty="0"/>
                <a:t> </a:t>
              </a:r>
              <a:r>
                <a:rPr lang="en-US" dirty="0" err="1"/>
                <a:t>într</a:t>
              </a:r>
              <a:r>
                <a:rPr lang="en-US" dirty="0"/>
                <a:t>-un </a:t>
              </a:r>
              <a:r>
                <a:rPr lang="en-US" dirty="0" err="1"/>
                <a:t>joc</a:t>
              </a:r>
              <a:r>
                <a:rPr lang="en-US" dirty="0"/>
                <a:t> 3D.</a:t>
              </a:r>
              <a:br>
                <a:rPr lang="en-US" dirty="0"/>
              </a:br>
              <a:endParaRPr lang="en-US" dirty="0"/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Elevii</a:t>
              </a:r>
              <a:r>
                <a:rPr lang="en-US" dirty="0"/>
                <a:t> </a:t>
              </a:r>
              <a:r>
                <a:rPr lang="en-US" dirty="0" err="1"/>
                <a:t>rezolvă</a:t>
              </a:r>
              <a:r>
                <a:rPr lang="en-US" dirty="0"/>
                <a:t> </a:t>
              </a:r>
              <a:r>
                <a:rPr lang="en-US" dirty="0" err="1"/>
                <a:t>probleme</a:t>
              </a:r>
              <a:r>
                <a:rPr lang="en-US" dirty="0"/>
                <a:t> de </a:t>
              </a:r>
              <a:r>
                <a:rPr lang="en-US" dirty="0" err="1"/>
                <a:t>programare</a:t>
              </a:r>
              <a:r>
                <a:rPr lang="en-US" dirty="0"/>
                <a:t> direct </a:t>
              </a:r>
              <a:r>
                <a:rPr lang="en-US" dirty="0" err="1"/>
                <a:t>în</a:t>
              </a:r>
              <a:r>
                <a:rPr lang="en-US" dirty="0"/>
                <a:t> </a:t>
              </a:r>
              <a:r>
                <a:rPr lang="en-US" dirty="0" err="1"/>
                <a:t>cadrul</a:t>
              </a:r>
              <a:r>
                <a:rPr lang="en-US" dirty="0"/>
                <a:t> </a:t>
              </a:r>
              <a:r>
                <a:rPr lang="en-US" dirty="0" err="1"/>
                <a:t>jocului</a:t>
              </a:r>
              <a:r>
                <a:rPr lang="en-US" dirty="0"/>
                <a:t>.</a:t>
              </a:r>
              <a:br>
                <a:rPr lang="en-US" dirty="0"/>
              </a:br>
              <a:endParaRPr lang="en-US" dirty="0"/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Codul</a:t>
              </a:r>
              <a:r>
                <a:rPr lang="en-US" dirty="0"/>
                <a:t> </a:t>
              </a:r>
              <a:r>
                <a:rPr lang="en-US" dirty="0" err="1"/>
                <a:t>este</a:t>
              </a:r>
              <a:r>
                <a:rPr lang="en-US" dirty="0"/>
                <a:t> </a:t>
              </a:r>
              <a:r>
                <a:rPr lang="en-US" dirty="0" err="1"/>
                <a:t>executat</a:t>
              </a:r>
              <a:r>
                <a:rPr lang="en-US" dirty="0"/>
                <a:t> pe server </a:t>
              </a:r>
              <a:r>
                <a:rPr lang="en-US" dirty="0" err="1"/>
                <a:t>și</a:t>
              </a:r>
              <a:r>
                <a:rPr lang="en-US" dirty="0"/>
                <a:t> </a:t>
              </a:r>
              <a:r>
                <a:rPr lang="en-US" dirty="0" err="1"/>
                <a:t>evaluat</a:t>
              </a:r>
              <a:r>
                <a:rPr lang="en-US" dirty="0"/>
                <a:t> automat cu </a:t>
              </a:r>
              <a:r>
                <a:rPr lang="en-US" dirty="0" err="1"/>
                <a:t>ajutorul</a:t>
              </a:r>
              <a:r>
                <a:rPr lang="en-US" dirty="0"/>
                <a:t> </a:t>
              </a:r>
              <a:r>
                <a:rPr lang="en-US" dirty="0" err="1"/>
                <a:t>inteligenței</a:t>
              </a:r>
              <a:r>
                <a:rPr lang="en-US" dirty="0"/>
                <a:t> </a:t>
              </a:r>
              <a:r>
                <a:rPr lang="en-US" dirty="0" err="1"/>
                <a:t>artificiale</a:t>
              </a:r>
              <a:r>
                <a:rPr lang="en-US" dirty="0"/>
                <a:t>.</a:t>
              </a:r>
              <a:br>
                <a:rPr lang="en-US" dirty="0"/>
              </a:br>
              <a:endParaRPr lang="en-US" dirty="0"/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Progresul</a:t>
              </a:r>
              <a:r>
                <a:rPr lang="en-US" dirty="0"/>
                <a:t> </a:t>
              </a:r>
              <a:r>
                <a:rPr lang="en-US" dirty="0" err="1"/>
                <a:t>este</a:t>
              </a:r>
              <a:r>
                <a:rPr lang="en-US" dirty="0"/>
                <a:t> </a:t>
              </a:r>
              <a:r>
                <a:rPr lang="en-US" dirty="0" err="1"/>
                <a:t>monitorizat</a:t>
              </a:r>
              <a:r>
                <a:rPr lang="en-US" dirty="0"/>
                <a:t> </a:t>
              </a:r>
              <a:r>
                <a:rPr lang="en-US" dirty="0" err="1"/>
                <a:t>și</a:t>
              </a:r>
              <a:r>
                <a:rPr lang="en-US" dirty="0"/>
                <a:t> </a:t>
              </a:r>
              <a:r>
                <a:rPr lang="en-US" dirty="0" err="1"/>
                <a:t>adaptat</a:t>
              </a:r>
              <a:r>
                <a:rPr lang="en-US" dirty="0"/>
                <a:t> </a:t>
              </a:r>
              <a:r>
                <a:rPr lang="en-US" dirty="0" err="1"/>
                <a:t>în</a:t>
              </a:r>
              <a:r>
                <a:rPr lang="en-US" dirty="0"/>
                <a:t> </a:t>
              </a:r>
              <a:r>
                <a:rPr lang="en-US" dirty="0" err="1"/>
                <a:t>funcție</a:t>
              </a:r>
              <a:r>
                <a:rPr lang="en-US" dirty="0"/>
                <a:t> de </a:t>
              </a:r>
              <a:r>
                <a:rPr lang="en-US" dirty="0" err="1"/>
                <a:t>performanța</a:t>
              </a:r>
              <a:r>
                <a:rPr lang="en-US" dirty="0"/>
                <a:t> </a:t>
              </a:r>
              <a:r>
                <a:rPr lang="en-US" dirty="0" err="1"/>
                <a:t>utilizatorului</a:t>
              </a:r>
              <a:r>
                <a:rPr lang="en-US" dirty="0"/>
                <a:t>.</a:t>
              </a:r>
              <a:endParaRPr lang="en-US" kern="12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895D4AE-432D-F549-90AC-DE26C7D8F75A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Soluția</a:t>
            </a:r>
            <a:r>
              <a:rPr lang="en-US" sz="2800" b="1" dirty="0"/>
              <a:t> </a:t>
            </a:r>
            <a:r>
              <a:rPr lang="en-US" sz="2800" b="1" dirty="0" err="1"/>
              <a:t>propusă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058654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AF322-E827-EAA4-71B4-32EFB082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0F6CD6C-69B4-21A5-2492-073D04E76FE3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6AD8F5-52B5-B045-5B62-BB905EF69A90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0B1D7C-8AFE-B5B6-40BD-B0C259C50BC6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BE2B0B-D1E0-5E7D-20E3-0398C6F00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42D342-DA70-4DCD-63FD-28F60FC531C3}"/>
              </a:ext>
            </a:extLst>
          </p:cNvPr>
          <p:cNvGrpSpPr/>
          <p:nvPr/>
        </p:nvGrpSpPr>
        <p:grpSpPr>
          <a:xfrm>
            <a:off x="5708868" y="2312840"/>
            <a:ext cx="5896578" cy="3725612"/>
            <a:chOff x="2819169" y="0"/>
            <a:chExt cx="3182544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CA5055-A433-1723-22D9-D2B1DCE1AE0F}"/>
                </a:ext>
              </a:extLst>
            </p:cNvPr>
            <p:cNvSpPr/>
            <p:nvPr/>
          </p:nvSpPr>
          <p:spPr>
            <a:xfrm>
              <a:off x="2819173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BF14A1-3EEF-CA36-9100-D62170013CE0}"/>
                </a:ext>
              </a:extLst>
            </p:cNvPr>
            <p:cNvSpPr txBox="1"/>
            <p:nvPr/>
          </p:nvSpPr>
          <p:spPr>
            <a:xfrm>
              <a:off x="2819169" y="229744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Scopul</a:t>
              </a:r>
              <a:r>
                <a:rPr lang="en-US" sz="2000" dirty="0"/>
                <a:t> principal </a:t>
              </a:r>
              <a:r>
                <a:rPr lang="en-US" sz="2000" dirty="0" err="1"/>
                <a:t>este</a:t>
              </a:r>
              <a:r>
                <a:rPr lang="en-US" sz="2000" dirty="0"/>
                <a:t> de a face </a:t>
              </a:r>
              <a:r>
                <a:rPr lang="en-US" sz="2000" dirty="0" err="1"/>
                <a:t>programarea</a:t>
              </a:r>
              <a:r>
                <a:rPr lang="en-US" sz="2000" dirty="0"/>
                <a:t> </a:t>
              </a:r>
              <a:r>
                <a:rPr lang="en-US" sz="2000" dirty="0" err="1"/>
                <a:t>mai</a:t>
              </a:r>
              <a:r>
                <a:rPr lang="en-US" sz="2000" dirty="0"/>
                <a:t> </a:t>
              </a:r>
              <a:r>
                <a:rPr lang="en-US" sz="2000" dirty="0" err="1"/>
                <a:t>accesibilă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mai</a:t>
              </a:r>
              <a:r>
                <a:rPr lang="en-US" sz="2000" dirty="0"/>
                <a:t> </a:t>
              </a:r>
              <a:r>
                <a:rPr lang="en-US" sz="2000" dirty="0" err="1"/>
                <a:t>atractivă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elevi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Platforma</a:t>
              </a:r>
              <a:r>
                <a:rPr lang="en-US" sz="2000" dirty="0"/>
                <a:t> </a:t>
              </a:r>
              <a:r>
                <a:rPr lang="en-US" sz="2000" dirty="0" err="1"/>
                <a:t>urmărește</a:t>
              </a:r>
              <a:r>
                <a:rPr lang="en-US" sz="2000" dirty="0"/>
                <a:t> </a:t>
              </a:r>
              <a:r>
                <a:rPr lang="en-US" sz="2000" dirty="0" err="1"/>
                <a:t>să</a:t>
              </a:r>
              <a:r>
                <a:rPr lang="en-US" sz="2000" dirty="0"/>
                <a:t> </a:t>
              </a:r>
              <a:r>
                <a:rPr lang="en-US" sz="2000" dirty="0" err="1"/>
                <a:t>reducă</a:t>
              </a:r>
              <a:r>
                <a:rPr lang="en-US" sz="2000" dirty="0"/>
                <a:t> </a:t>
              </a:r>
              <a:r>
                <a:rPr lang="en-US" sz="2000" dirty="0" err="1"/>
                <a:t>dificultatea</a:t>
              </a:r>
              <a:r>
                <a:rPr lang="en-US" sz="2000" dirty="0"/>
                <a:t> </a:t>
              </a:r>
              <a:r>
                <a:rPr lang="en-US" sz="2000" dirty="0" err="1"/>
                <a:t>inițială</a:t>
              </a:r>
              <a:r>
                <a:rPr lang="en-US" sz="2000" dirty="0"/>
                <a:t> a </a:t>
              </a:r>
              <a:r>
                <a:rPr lang="en-US" sz="2000" dirty="0" err="1"/>
                <a:t>învățării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Se </a:t>
              </a:r>
              <a:r>
                <a:rPr lang="en-US" sz="2000" dirty="0" err="1"/>
                <a:t>pune</a:t>
              </a:r>
              <a:r>
                <a:rPr lang="en-US" sz="2000" dirty="0"/>
                <a:t> accent pe </a:t>
              </a:r>
              <a:r>
                <a:rPr lang="en-US" sz="2000" dirty="0" err="1"/>
                <a:t>învățarea</a:t>
              </a:r>
              <a:r>
                <a:rPr lang="en-US" sz="2000" dirty="0"/>
                <a:t> </a:t>
              </a:r>
              <a:r>
                <a:rPr lang="en-US" sz="2000" dirty="0" err="1"/>
                <a:t>prin</a:t>
              </a:r>
              <a:r>
                <a:rPr lang="en-US" sz="2000" dirty="0"/>
                <a:t> </a:t>
              </a:r>
              <a:r>
                <a:rPr lang="en-US" sz="2000" dirty="0" err="1"/>
                <a:t>practică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feedback </a:t>
              </a:r>
              <a:r>
                <a:rPr lang="en-US" sz="2000" dirty="0" err="1"/>
                <a:t>continuu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De </a:t>
              </a:r>
              <a:r>
                <a:rPr lang="en-US" sz="2000" dirty="0" err="1"/>
                <a:t>asemenea</a:t>
              </a:r>
              <a:r>
                <a:rPr lang="en-US" sz="2000" dirty="0"/>
                <a:t>, </a:t>
              </a:r>
              <a:r>
                <a:rPr lang="en-US" sz="2000" dirty="0" err="1"/>
                <a:t>proiectul</a:t>
              </a:r>
              <a:r>
                <a:rPr lang="en-US" sz="2000" dirty="0"/>
                <a:t> </a:t>
              </a:r>
              <a:r>
                <a:rPr lang="en-US" sz="2000" dirty="0" err="1"/>
                <a:t>oferă</a:t>
              </a:r>
              <a:r>
                <a:rPr lang="en-US" sz="2000" dirty="0"/>
                <a:t> </a:t>
              </a:r>
              <a:r>
                <a:rPr lang="en-US" sz="2000" dirty="0" err="1"/>
                <a:t>transparență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părinți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profesori</a:t>
              </a:r>
              <a:r>
                <a:rPr lang="en-US" sz="2000" dirty="0"/>
                <a:t>.</a:t>
              </a:r>
              <a:endParaRPr lang="en-US" sz="2000" kern="12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14C31F1-FD31-A68B-C9B2-3A08D2F19BAF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Scopul</a:t>
            </a:r>
            <a:r>
              <a:rPr lang="en-US" sz="2800" b="1" dirty="0"/>
              <a:t> </a:t>
            </a:r>
            <a:r>
              <a:rPr lang="en-US" sz="2800" b="1" dirty="0" err="1"/>
              <a:t>proiectului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043523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805E9-5065-2195-E4D3-DE60863A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FA617D8-3E1C-F5F4-583E-8680279B7CB9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1180B4-2419-9B86-D439-3050C988A15B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43A69F-01C0-DF64-FD35-52C3186538BD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E5375A-9F19-2CA6-3696-5AB57B974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6D8049-C6D6-575F-4A12-4A133C0E41D6}"/>
              </a:ext>
            </a:extLst>
          </p:cNvPr>
          <p:cNvGrpSpPr/>
          <p:nvPr/>
        </p:nvGrpSpPr>
        <p:grpSpPr>
          <a:xfrm>
            <a:off x="285120" y="2312840"/>
            <a:ext cx="5896571" cy="4087960"/>
            <a:chOff x="-108168" y="0"/>
            <a:chExt cx="3182540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053FC6-4D6F-1D32-E20C-39ACD95AFF02}"/>
                </a:ext>
              </a:extLst>
            </p:cNvPr>
            <p:cNvSpPr/>
            <p:nvPr/>
          </p:nvSpPr>
          <p:spPr>
            <a:xfrm>
              <a:off x="-108168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7639DD-98D4-6FC7-66C8-FBB2FE2F61DC}"/>
                </a:ext>
              </a:extLst>
            </p:cNvPr>
            <p:cNvSpPr txBox="1"/>
            <p:nvPr/>
          </p:nvSpPr>
          <p:spPr>
            <a:xfrm>
              <a:off x="-108168" y="249517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Dezvoltarea</a:t>
              </a:r>
              <a:r>
                <a:rPr lang="en-US" sz="2000" dirty="0"/>
                <a:t> </a:t>
              </a:r>
              <a:r>
                <a:rPr lang="en-US" sz="2000" dirty="0" err="1"/>
                <a:t>unui</a:t>
              </a:r>
              <a:r>
                <a:rPr lang="en-US" sz="2000" dirty="0"/>
                <a:t> </a:t>
              </a:r>
              <a:r>
                <a:rPr lang="en-US" sz="2000" dirty="0" err="1"/>
                <a:t>joc</a:t>
              </a:r>
              <a:r>
                <a:rPr lang="en-US" sz="2000" dirty="0"/>
                <a:t> 3D </a:t>
              </a:r>
              <a:r>
                <a:rPr lang="en-US" sz="2000" dirty="0" err="1"/>
                <a:t>interactiv</a:t>
              </a:r>
              <a:r>
                <a:rPr lang="en-US" sz="2000" dirty="0"/>
                <a:t> care </a:t>
              </a:r>
              <a:r>
                <a:rPr lang="en-US" sz="2000" dirty="0" err="1"/>
                <a:t>integrează</a:t>
              </a:r>
              <a:r>
                <a:rPr lang="en-US" sz="2000" dirty="0"/>
                <a:t> </a:t>
              </a:r>
              <a:r>
                <a:rPr lang="en-US" sz="2000" dirty="0" err="1"/>
                <a:t>concepte</a:t>
              </a:r>
              <a:r>
                <a:rPr lang="en-US" sz="2000" dirty="0"/>
                <a:t> de </a:t>
              </a:r>
              <a:r>
                <a:rPr lang="en-US" sz="2000" dirty="0" err="1"/>
                <a:t>programare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Crearea</a:t>
              </a:r>
              <a:r>
                <a:rPr lang="en-US" sz="2000" dirty="0"/>
                <a:t> </a:t>
              </a:r>
              <a:r>
                <a:rPr lang="en-US" sz="2000" dirty="0" err="1"/>
                <a:t>unui</a:t>
              </a:r>
              <a:r>
                <a:rPr lang="en-US" sz="2000" dirty="0"/>
                <a:t> server </a:t>
              </a:r>
              <a:r>
                <a:rPr lang="en-US" sz="2000" dirty="0" err="1"/>
                <a:t>capabil</a:t>
              </a:r>
              <a:r>
                <a:rPr lang="en-US" sz="2000" dirty="0"/>
                <a:t> </a:t>
              </a:r>
              <a:r>
                <a:rPr lang="en-US" sz="2000" dirty="0" err="1"/>
                <a:t>să</a:t>
              </a:r>
              <a:r>
                <a:rPr lang="en-US" sz="2000" dirty="0"/>
                <a:t> execute cod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condiții</a:t>
              </a:r>
              <a:r>
                <a:rPr lang="en-US" sz="2000" dirty="0"/>
                <a:t> de </a:t>
              </a:r>
              <a:r>
                <a:rPr lang="en-US" sz="2000" dirty="0" err="1"/>
                <a:t>siguranță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Implementarea</a:t>
              </a:r>
              <a:r>
                <a:rPr lang="en-US" sz="2000" dirty="0"/>
                <a:t> </a:t>
              </a:r>
              <a:r>
                <a:rPr lang="en-US" sz="2000" dirty="0" err="1"/>
                <a:t>unui</a:t>
              </a:r>
              <a:r>
                <a:rPr lang="en-US" sz="2000" dirty="0"/>
                <a:t> </a:t>
              </a:r>
              <a:r>
                <a:rPr lang="en-US" sz="2000" dirty="0" err="1"/>
                <a:t>sistem</a:t>
              </a:r>
              <a:r>
                <a:rPr lang="en-US" sz="2000" dirty="0"/>
                <a:t> de </a:t>
              </a:r>
              <a:r>
                <a:rPr lang="en-US" sz="2000" dirty="0" err="1"/>
                <a:t>evaluare</a:t>
              </a:r>
              <a:r>
                <a:rPr lang="en-US" sz="2000" dirty="0"/>
                <a:t> </a:t>
              </a:r>
              <a:r>
                <a:rPr lang="en-US" sz="2000" dirty="0" err="1"/>
                <a:t>automată</a:t>
              </a:r>
              <a:r>
                <a:rPr lang="en-US" sz="2000" dirty="0"/>
                <a:t> </a:t>
              </a:r>
              <a:r>
                <a:rPr lang="en-US" sz="2000" dirty="0" err="1"/>
                <a:t>bazat</a:t>
              </a:r>
              <a:r>
                <a:rPr lang="en-US" sz="2000" dirty="0"/>
                <a:t> pe </a:t>
              </a:r>
              <a:r>
                <a:rPr lang="en-US" sz="2000" dirty="0" err="1"/>
                <a:t>inteligență</a:t>
              </a:r>
              <a:r>
                <a:rPr lang="en-US" sz="2000" dirty="0"/>
                <a:t> </a:t>
              </a:r>
              <a:r>
                <a:rPr lang="en-US" sz="2000" dirty="0" err="1"/>
                <a:t>artificială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Realizarea</a:t>
              </a:r>
              <a:r>
                <a:rPr lang="en-US" sz="2000" dirty="0"/>
                <a:t> </a:t>
              </a:r>
              <a:r>
                <a:rPr lang="en-US" sz="2000" dirty="0" err="1"/>
                <a:t>unei</a:t>
              </a:r>
              <a:r>
                <a:rPr lang="en-US" sz="2000" dirty="0"/>
                <a:t> </a:t>
              </a:r>
              <a:r>
                <a:rPr lang="en-US" sz="2000" dirty="0" err="1"/>
                <a:t>aplicații</a:t>
              </a:r>
              <a:r>
                <a:rPr lang="en-US" sz="2000" dirty="0"/>
                <a:t> mobile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monitorizarea</a:t>
              </a:r>
              <a:r>
                <a:rPr lang="en-US" sz="2000" dirty="0"/>
                <a:t> </a:t>
              </a:r>
              <a:r>
                <a:rPr lang="en-US" sz="2000" dirty="0" err="1"/>
                <a:t>progresului</a:t>
              </a:r>
              <a:r>
                <a:rPr lang="en-US" sz="2000" dirty="0"/>
                <a:t> </a:t>
              </a:r>
              <a:r>
                <a:rPr lang="en-US" sz="2000" dirty="0" err="1"/>
                <a:t>elevilor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Crearea</a:t>
              </a:r>
              <a:r>
                <a:rPr lang="en-US" sz="2000" dirty="0"/>
                <a:t> </a:t>
              </a:r>
              <a:r>
                <a:rPr lang="en-US" sz="2000" dirty="0" err="1"/>
                <a:t>unui</a:t>
              </a:r>
              <a:r>
                <a:rPr lang="en-US" sz="2000" dirty="0"/>
                <a:t> editor web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profesori</a:t>
              </a:r>
              <a:r>
                <a:rPr lang="en-US" sz="2000" dirty="0"/>
                <a:t>, </a:t>
              </a:r>
              <a:r>
                <a:rPr lang="en-US" sz="2000" dirty="0" err="1"/>
                <a:t>destinat</a:t>
              </a:r>
              <a:r>
                <a:rPr lang="en-US" sz="2000" dirty="0"/>
                <a:t> </a:t>
              </a:r>
              <a:r>
                <a:rPr lang="en-US" sz="2000" dirty="0" err="1"/>
                <a:t>generării</a:t>
              </a:r>
              <a:r>
                <a:rPr lang="en-US" sz="2000" dirty="0"/>
                <a:t> de </a:t>
              </a:r>
              <a:r>
                <a:rPr lang="en-US" sz="2000" dirty="0" err="1"/>
                <a:t>conținut</a:t>
              </a:r>
              <a:r>
                <a:rPr lang="en-US" sz="2000" dirty="0"/>
                <a:t> </a:t>
              </a:r>
              <a:r>
                <a:rPr lang="en-US" sz="2000" dirty="0" err="1"/>
                <a:t>educațional</a:t>
              </a:r>
              <a:r>
                <a:rPr lang="en-US" sz="2000" dirty="0"/>
                <a:t>.</a:t>
              </a:r>
              <a:endParaRPr lang="en-US" sz="2000" kern="12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90AE0D7-F881-4DB7-EC4D-C8359CE6EB92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Obiectivele </a:t>
            </a:r>
            <a:r>
              <a:rPr lang="en-US" sz="2800" b="1" dirty="0" err="1"/>
              <a:t>proiectului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181010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8EEAF-9F57-7BC1-BB7F-3F574FCA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E697F4-B3E6-34B7-54BD-E48BC2E5AB6B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45AA48-8EC2-C66E-96DD-E4CDDFA33F9A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F5BB75-B9E4-6E18-AE68-3789EBD230EE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1CF141-936D-A414-A56A-66E9EAD6D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81A147-AF4E-CBF7-4E96-8B9F8139E737}"/>
              </a:ext>
            </a:extLst>
          </p:cNvPr>
          <p:cNvGrpSpPr/>
          <p:nvPr/>
        </p:nvGrpSpPr>
        <p:grpSpPr>
          <a:xfrm>
            <a:off x="5959397" y="2312840"/>
            <a:ext cx="5896571" cy="4087960"/>
            <a:chOff x="2954385" y="0"/>
            <a:chExt cx="3182540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334148-E341-CFA5-9658-EC463FF2965B}"/>
                </a:ext>
              </a:extLst>
            </p:cNvPr>
            <p:cNvSpPr/>
            <p:nvPr/>
          </p:nvSpPr>
          <p:spPr>
            <a:xfrm>
              <a:off x="2954385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F53D8B-0F4F-B12C-B152-28819D5FDD90}"/>
                </a:ext>
              </a:extLst>
            </p:cNvPr>
            <p:cNvSpPr txBox="1"/>
            <p:nvPr/>
          </p:nvSpPr>
          <p:spPr>
            <a:xfrm>
              <a:off x="2954385" y="249517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Sistemul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format din </a:t>
              </a:r>
              <a:r>
                <a:rPr lang="en-US" sz="2000" dirty="0" err="1"/>
                <a:t>mai</a:t>
              </a:r>
              <a:r>
                <a:rPr lang="en-US" sz="2000" dirty="0"/>
                <a:t> </a:t>
              </a:r>
              <a:r>
                <a:rPr lang="en-US" sz="2000" dirty="0" err="1"/>
                <a:t>multe</a:t>
              </a:r>
              <a:r>
                <a:rPr lang="en-US" sz="2000" dirty="0"/>
                <a:t> </a:t>
              </a:r>
              <a:r>
                <a:rPr lang="en-US" sz="2000" dirty="0" err="1"/>
                <a:t>componente</a:t>
              </a:r>
              <a:r>
                <a:rPr lang="en-US" sz="2000" dirty="0"/>
                <a:t> care </a:t>
              </a:r>
              <a:r>
                <a:rPr lang="en-US" sz="2000" dirty="0" err="1"/>
                <a:t>comunică</a:t>
              </a:r>
              <a:r>
                <a:rPr lang="en-US" sz="2000" dirty="0"/>
                <a:t> </a:t>
              </a:r>
              <a:r>
                <a:rPr lang="en-US" sz="2000" dirty="0" err="1"/>
                <a:t>între</a:t>
              </a:r>
              <a:r>
                <a:rPr lang="en-US" sz="2000" dirty="0"/>
                <a:t> </a:t>
              </a:r>
              <a:r>
                <a:rPr lang="en-US" sz="2000" dirty="0" err="1"/>
                <a:t>ele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</a:t>
              </a:r>
              <a:r>
                <a:rPr lang="en-US" sz="2000" dirty="0"/>
                <a:t> real.</a:t>
              </a:r>
              <a:br>
                <a:rPr lang="en-US" sz="2000" dirty="0"/>
              </a:br>
              <a:r>
                <a:rPr lang="en-US" sz="2000" dirty="0" err="1"/>
                <a:t>Jocul</a:t>
              </a:r>
              <a:r>
                <a:rPr lang="en-US" sz="2000" dirty="0"/>
                <a:t> Unity </a:t>
              </a:r>
              <a:r>
                <a:rPr lang="en-US" sz="2000" dirty="0" err="1"/>
                <a:t>reprezintă</a:t>
              </a:r>
              <a:r>
                <a:rPr lang="en-US" sz="2000" dirty="0"/>
                <a:t> </a:t>
              </a:r>
              <a:r>
                <a:rPr lang="en-US" sz="2000" dirty="0" err="1"/>
                <a:t>interfața</a:t>
              </a:r>
              <a:r>
                <a:rPr lang="en-US" sz="2000" dirty="0"/>
                <a:t> </a:t>
              </a:r>
              <a:r>
                <a:rPr lang="en-US" sz="2000" dirty="0" err="1"/>
                <a:t>principală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elev.</a:t>
              </a:r>
              <a:br>
                <a:rPr lang="en-US" sz="2000" dirty="0"/>
              </a:br>
              <a:r>
                <a:rPr lang="en-US" sz="2000" dirty="0" err="1"/>
                <a:t>Aplicația</a:t>
              </a:r>
              <a:r>
                <a:rPr lang="en-US" sz="2000" dirty="0"/>
                <a:t> Android </a:t>
              </a:r>
              <a:r>
                <a:rPr lang="en-US" sz="2000" dirty="0" err="1"/>
                <a:t>permite</a:t>
              </a:r>
              <a:r>
                <a:rPr lang="en-US" sz="2000" dirty="0"/>
                <a:t> </a:t>
              </a:r>
              <a:r>
                <a:rPr lang="en-US" sz="2000" dirty="0" err="1"/>
                <a:t>părinților</a:t>
              </a:r>
              <a:r>
                <a:rPr lang="en-US" sz="2000" dirty="0"/>
                <a:t> </a:t>
              </a:r>
              <a:r>
                <a:rPr lang="en-US" sz="2000" dirty="0" err="1"/>
                <a:t>să</a:t>
              </a:r>
              <a:r>
                <a:rPr lang="en-US" sz="2000" dirty="0"/>
                <a:t> </a:t>
              </a:r>
              <a:r>
                <a:rPr lang="en-US" sz="2000" dirty="0" err="1"/>
                <a:t>urmărească</a:t>
              </a:r>
              <a:r>
                <a:rPr lang="en-US" sz="2000" dirty="0"/>
                <a:t> </a:t>
              </a:r>
              <a:r>
                <a:rPr lang="en-US" sz="2000" dirty="0" err="1"/>
                <a:t>progresul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Editorul</a:t>
              </a:r>
              <a:r>
                <a:rPr lang="en-US" sz="2000" dirty="0"/>
                <a:t> web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utilizat</a:t>
              </a:r>
              <a:r>
                <a:rPr lang="en-US" sz="2000" dirty="0"/>
                <a:t> de </a:t>
              </a:r>
              <a:r>
                <a:rPr lang="en-US" sz="2000" dirty="0" err="1"/>
                <a:t>profesori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a </a:t>
              </a:r>
              <a:r>
                <a:rPr lang="en-US" sz="2000" dirty="0" err="1"/>
                <a:t>crea</a:t>
              </a:r>
              <a:r>
                <a:rPr lang="en-US" sz="2000" dirty="0"/>
                <a:t> </a:t>
              </a:r>
              <a:r>
                <a:rPr lang="en-US" sz="2000" dirty="0" err="1"/>
                <a:t>conținut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Serverul</a:t>
              </a:r>
              <a:r>
                <a:rPr lang="en-US" sz="2000" dirty="0"/>
                <a:t> central </a:t>
              </a:r>
              <a:r>
                <a:rPr lang="en-US" sz="2000" dirty="0" err="1"/>
                <a:t>gestionează</a:t>
              </a:r>
              <a:r>
                <a:rPr lang="en-US" sz="2000" dirty="0"/>
                <a:t> </a:t>
              </a:r>
              <a:r>
                <a:rPr lang="en-US" sz="2000" dirty="0" err="1"/>
                <a:t>toate</a:t>
              </a:r>
              <a:r>
                <a:rPr lang="en-US" sz="2000" dirty="0"/>
                <a:t> </a:t>
              </a:r>
              <a:r>
                <a:rPr lang="en-US" sz="2000" dirty="0" err="1"/>
                <a:t>conexiunile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procesele</a:t>
              </a:r>
              <a:r>
                <a:rPr lang="en-US" sz="2000" dirty="0"/>
                <a:t>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534700A-A466-E586-A415-56E9631AF0B3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Arhitectura</a:t>
            </a:r>
            <a:r>
              <a:rPr lang="en-US" sz="2800" b="1" dirty="0"/>
              <a:t> </a:t>
            </a:r>
            <a:r>
              <a:rPr lang="en-US" sz="2800" b="1" dirty="0" err="1"/>
              <a:t>sistemului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884608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960A0-8587-F5AA-377A-4BB47413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A25FE34-AFB5-ACED-4B03-6DDC30CE9AC0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BAC095-6763-01C7-1E30-093AE94ACD30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EED0D1-B531-473B-A118-806536ED359A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01F541-2803-BC28-96B7-95E6602FE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96F385-D484-965C-1C33-72029D0E4501}"/>
              </a:ext>
            </a:extLst>
          </p:cNvPr>
          <p:cNvGrpSpPr/>
          <p:nvPr/>
        </p:nvGrpSpPr>
        <p:grpSpPr>
          <a:xfrm>
            <a:off x="266329" y="2312840"/>
            <a:ext cx="5896579" cy="4087960"/>
            <a:chOff x="-118310" y="0"/>
            <a:chExt cx="3182544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BF480A-8E95-CBDB-CF65-4E41A5CA869A}"/>
                </a:ext>
              </a:extLst>
            </p:cNvPr>
            <p:cNvSpPr/>
            <p:nvPr/>
          </p:nvSpPr>
          <p:spPr>
            <a:xfrm>
              <a:off x="-11831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D0C27D-8371-D33F-19DC-BB874CC03108}"/>
                </a:ext>
              </a:extLst>
            </p:cNvPr>
            <p:cNvSpPr txBox="1"/>
            <p:nvPr/>
          </p:nvSpPr>
          <p:spPr>
            <a:xfrm>
              <a:off x="-118306" y="249517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/>
                <a:t>Backend-ul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realizat</a:t>
              </a:r>
              <a:r>
                <a:rPr lang="en-US" sz="2000" dirty="0"/>
                <a:t> </a:t>
              </a:r>
              <a:r>
                <a:rPr lang="en-US" sz="2000" dirty="0" err="1"/>
                <a:t>folosind</a:t>
              </a:r>
              <a:r>
                <a:rPr lang="en-US" sz="2000" dirty="0"/>
                <a:t> Java </a:t>
              </a:r>
              <a:r>
                <a:rPr lang="en-US" sz="2000" dirty="0" err="1"/>
                <a:t>și</a:t>
              </a:r>
              <a:r>
                <a:rPr lang="en-US" sz="2000" dirty="0"/>
                <a:t> Spring Boot.</a:t>
              </a:r>
              <a:br>
                <a:rPr lang="en-US" sz="2000" dirty="0"/>
              </a:br>
              <a:r>
                <a:rPr lang="en-US" sz="2000" dirty="0" err="1"/>
                <a:t>Jocul</a:t>
              </a:r>
              <a:r>
                <a:rPr lang="en-US" sz="2000" dirty="0"/>
                <a:t> 3D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dezvoltat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Unity </a:t>
              </a:r>
              <a:r>
                <a:rPr lang="en-US" sz="2000" dirty="0" err="1"/>
                <a:t>folosind</a:t>
              </a:r>
              <a:r>
                <a:rPr lang="en-US" sz="2000" dirty="0"/>
                <a:t> </a:t>
              </a:r>
              <a:r>
                <a:rPr lang="en-US" sz="2000" dirty="0" err="1"/>
                <a:t>limbajul</a:t>
              </a:r>
              <a:r>
                <a:rPr lang="en-US" sz="2000" dirty="0"/>
                <a:t> C#.</a:t>
              </a:r>
              <a:br>
                <a:rPr lang="en-US" sz="2000" dirty="0"/>
              </a:br>
              <a:r>
                <a:rPr lang="en-US" sz="2000" dirty="0" err="1"/>
                <a:t>Aplicația</a:t>
              </a:r>
              <a:r>
                <a:rPr lang="en-US" sz="2000" dirty="0"/>
                <a:t> </a:t>
              </a:r>
              <a:r>
                <a:rPr lang="en-US" sz="2000" dirty="0" err="1"/>
                <a:t>mobilă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construită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Kotlin, </a:t>
              </a:r>
              <a:r>
                <a:rPr lang="en-US" sz="2000" dirty="0" err="1"/>
                <a:t>folosind</a:t>
              </a:r>
              <a:r>
                <a:rPr lang="en-US" sz="2000" dirty="0"/>
                <a:t> Jetpack Compose.</a:t>
              </a:r>
              <a:br>
                <a:rPr lang="en-US" sz="2000" dirty="0"/>
              </a:br>
              <a:r>
                <a:rPr lang="en-US" sz="2000" dirty="0" err="1"/>
                <a:t>Editorul</a:t>
              </a:r>
              <a:r>
                <a:rPr lang="en-US" sz="2000" dirty="0"/>
                <a:t> web </a:t>
              </a:r>
              <a:r>
                <a:rPr lang="en-US" sz="2000" dirty="0" err="1"/>
                <a:t>utilizează</a:t>
              </a:r>
              <a:r>
                <a:rPr lang="en-US" sz="2000" dirty="0"/>
                <a:t> React </a:t>
              </a:r>
              <a:r>
                <a:rPr lang="en-US" sz="2000" dirty="0" err="1"/>
                <a:t>și</a:t>
              </a:r>
              <a:r>
                <a:rPr lang="en-US" sz="2000" dirty="0"/>
                <a:t> Vite.</a:t>
              </a:r>
              <a:br>
                <a:rPr lang="en-US" sz="2000" dirty="0"/>
              </a:br>
              <a:r>
                <a:rPr lang="en-US" sz="2000" dirty="0" err="1"/>
                <a:t>Datele</a:t>
              </a:r>
              <a:r>
                <a:rPr lang="en-US" sz="2000" dirty="0"/>
                <a:t> sunt </a:t>
              </a:r>
              <a:r>
                <a:rPr lang="en-US" sz="2000" dirty="0" err="1"/>
                <a:t>stocate</a:t>
              </a:r>
              <a:r>
                <a:rPr lang="en-US" sz="2000" dirty="0"/>
                <a:t> </a:t>
              </a:r>
              <a:r>
                <a:rPr lang="en-US" sz="2000" dirty="0" err="1"/>
                <a:t>într</a:t>
              </a:r>
              <a:r>
                <a:rPr lang="en-US" sz="2000" dirty="0"/>
                <a:t>-o </a:t>
              </a:r>
              <a:r>
                <a:rPr lang="en-US" sz="2000" dirty="0" err="1"/>
                <a:t>bază</a:t>
              </a:r>
              <a:r>
                <a:rPr lang="en-US" sz="2000" dirty="0"/>
                <a:t> PostgreSQL.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5625C7-6715-DE64-04DF-8CBE312F5594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Tehnologii</a:t>
            </a:r>
            <a:r>
              <a:rPr lang="en-US" sz="2800" b="1" dirty="0"/>
              <a:t> </a:t>
            </a:r>
            <a:r>
              <a:rPr lang="en-US" sz="2800" b="1" dirty="0" err="1"/>
              <a:t>utilizate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78094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A6ACD-A94F-56BE-01FD-E223CC06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210269-4C30-43E9-EA4D-D7A1FC98043A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4AB850-F265-2410-A294-22DB7CC39142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5E7B62-EAAD-59CA-E529-F9B6202451FB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BCC2DB-5A71-E739-DA27-4C4DFB7B4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30EF79-423F-4676-7866-293A87657655}"/>
              </a:ext>
            </a:extLst>
          </p:cNvPr>
          <p:cNvGrpSpPr/>
          <p:nvPr/>
        </p:nvGrpSpPr>
        <p:grpSpPr>
          <a:xfrm>
            <a:off x="5871625" y="2312840"/>
            <a:ext cx="5896579" cy="4087960"/>
            <a:chOff x="2907060" y="0"/>
            <a:chExt cx="3182544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D9EC59-8BCD-7A0F-D1E6-107957A2F718}"/>
                </a:ext>
              </a:extLst>
            </p:cNvPr>
            <p:cNvSpPr/>
            <p:nvPr/>
          </p:nvSpPr>
          <p:spPr>
            <a:xfrm>
              <a:off x="290706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E4A70E-B2E1-BE0E-F0B1-7D28E498A99A}"/>
                </a:ext>
              </a:extLst>
            </p:cNvPr>
            <p:cNvSpPr txBox="1"/>
            <p:nvPr/>
          </p:nvSpPr>
          <p:spPr>
            <a:xfrm>
              <a:off x="2907064" y="249517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Elevul</a:t>
              </a:r>
              <a:r>
                <a:rPr lang="en-US" sz="2000" dirty="0"/>
                <a:t> </a:t>
              </a:r>
              <a:r>
                <a:rPr lang="en-US" sz="2000" dirty="0" err="1"/>
                <a:t>interacționează</a:t>
              </a:r>
              <a:r>
                <a:rPr lang="en-US" sz="2000" dirty="0"/>
                <a:t> cu </a:t>
              </a:r>
              <a:r>
                <a:rPr lang="en-US" sz="2000" dirty="0" err="1"/>
                <a:t>mediul</a:t>
              </a:r>
              <a:r>
                <a:rPr lang="en-US" sz="2000" dirty="0"/>
                <a:t> virtual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rezolvă</a:t>
              </a:r>
              <a:r>
                <a:rPr lang="en-US" sz="2000" dirty="0"/>
                <a:t> </a:t>
              </a:r>
              <a:r>
                <a:rPr lang="en-US" sz="2000" dirty="0" err="1"/>
                <a:t>provocări</a:t>
              </a:r>
              <a:r>
                <a:rPr lang="en-US" sz="2000" dirty="0"/>
                <a:t> de </a:t>
              </a:r>
              <a:r>
                <a:rPr lang="en-US" sz="2000" dirty="0" err="1"/>
                <a:t>programare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Fiecare</a:t>
              </a:r>
              <a:r>
                <a:rPr lang="en-US" sz="2000" dirty="0"/>
                <a:t> task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integrat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gameplay </a:t>
              </a:r>
              <a:r>
                <a:rPr lang="en-US" sz="2000" dirty="0" err="1"/>
                <a:t>și</a:t>
              </a:r>
              <a:r>
                <a:rPr lang="en-US" sz="2000" dirty="0"/>
                <a:t> are un context </a:t>
              </a:r>
              <a:r>
                <a:rPr lang="en-US" sz="2000" dirty="0" err="1"/>
                <a:t>narativ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Există</a:t>
              </a:r>
              <a:r>
                <a:rPr lang="en-US" sz="2000" dirty="0"/>
                <a:t> un editor de cod direct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joc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Feedback-ul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oferit</a:t>
              </a:r>
              <a:r>
                <a:rPr lang="en-US" sz="2000" dirty="0"/>
                <a:t> </a:t>
              </a:r>
              <a:r>
                <a:rPr lang="en-US" sz="2000" dirty="0" err="1"/>
                <a:t>imediat</a:t>
              </a:r>
              <a:r>
                <a:rPr lang="en-US" sz="2000" dirty="0"/>
                <a:t> </a:t>
              </a:r>
              <a:r>
                <a:rPr lang="en-US" sz="2000" dirty="0" err="1"/>
                <a:t>după</a:t>
              </a:r>
              <a:r>
                <a:rPr lang="en-US" sz="2000" dirty="0"/>
                <a:t> </a:t>
              </a:r>
              <a:r>
                <a:rPr lang="en-US" sz="2000" dirty="0" err="1"/>
                <a:t>execuția</a:t>
              </a:r>
              <a:r>
                <a:rPr lang="en-US" sz="2000" dirty="0"/>
                <a:t> </a:t>
              </a:r>
              <a:r>
                <a:rPr lang="en-US" sz="2000" dirty="0" err="1"/>
                <a:t>codului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Autentificarea</a:t>
              </a:r>
              <a:r>
                <a:rPr lang="en-US" sz="2000" dirty="0"/>
                <a:t> se </a:t>
              </a:r>
              <a:r>
                <a:rPr lang="en-US" sz="2000" dirty="0" err="1"/>
                <a:t>poate</a:t>
              </a:r>
              <a:r>
                <a:rPr lang="en-US" sz="2000" dirty="0"/>
                <a:t> face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prin</a:t>
              </a:r>
              <a:r>
                <a:rPr lang="en-US" sz="2000" dirty="0"/>
                <a:t> </a:t>
              </a:r>
              <a:r>
                <a:rPr lang="en-US" sz="2000" dirty="0" err="1"/>
                <a:t>scanarea</a:t>
              </a:r>
              <a:r>
                <a:rPr lang="en-US" sz="2000" dirty="0"/>
                <a:t> </a:t>
              </a:r>
              <a:r>
                <a:rPr lang="en-US" sz="2000" dirty="0" err="1"/>
                <a:t>unui</a:t>
              </a:r>
              <a:r>
                <a:rPr lang="en-US" sz="2000" dirty="0"/>
                <a:t> cod QR.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9287ADF-F21B-25E8-3F50-E7225743234D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Jocul</a:t>
            </a:r>
            <a:r>
              <a:rPr lang="en-US" sz="2800" b="1" dirty="0"/>
              <a:t> 3D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762210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DDCE9-2D8E-6DED-0D14-A3A069E7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A46EFDE-8CC0-8DFA-BAC5-009B5634FFC9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8CF104-887D-7367-B0B6-674823720F57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7B08FD-4EE0-3C28-D928-C0092D79F5E5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83E4F6-D23A-0B59-6913-BEDC0B31C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A90B7E-4C93-7C6A-77BF-B2DC961BE934}"/>
              </a:ext>
            </a:extLst>
          </p:cNvPr>
          <p:cNvGrpSpPr/>
          <p:nvPr/>
        </p:nvGrpSpPr>
        <p:grpSpPr>
          <a:xfrm>
            <a:off x="491708" y="2312840"/>
            <a:ext cx="5896579" cy="4087960"/>
            <a:chOff x="2907060" y="0"/>
            <a:chExt cx="3182544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1C9DED-5CE8-1E2D-71AD-172EF66CF4C6}"/>
                </a:ext>
              </a:extLst>
            </p:cNvPr>
            <p:cNvSpPr/>
            <p:nvPr/>
          </p:nvSpPr>
          <p:spPr>
            <a:xfrm>
              <a:off x="2907060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77308D-8702-31B4-70A2-5FE814E519F6}"/>
                </a:ext>
              </a:extLst>
            </p:cNvPr>
            <p:cNvSpPr txBox="1"/>
            <p:nvPr/>
          </p:nvSpPr>
          <p:spPr>
            <a:xfrm>
              <a:off x="2907064" y="249517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Codul</a:t>
              </a:r>
              <a:r>
                <a:rPr lang="en-US" sz="2000" dirty="0"/>
                <a:t> </a:t>
              </a:r>
              <a:r>
                <a:rPr lang="en-US" sz="2000" dirty="0" err="1"/>
                <a:t>scris</a:t>
              </a:r>
              <a:r>
                <a:rPr lang="en-US" sz="2000" dirty="0"/>
                <a:t> de </a:t>
              </a:r>
              <a:r>
                <a:rPr lang="en-US" sz="2000" dirty="0" err="1"/>
                <a:t>elev</a:t>
              </a:r>
              <a:r>
                <a:rPr lang="en-US" sz="2000" dirty="0"/>
                <a:t> nu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executat</a:t>
              </a:r>
              <a:r>
                <a:rPr lang="en-US" sz="2000" dirty="0"/>
                <a:t> local, ci pe server.</a:t>
              </a:r>
              <a:br>
                <a:rPr lang="en-US" sz="2000" dirty="0"/>
              </a:br>
              <a:r>
                <a:rPr lang="en-US" sz="2000" dirty="0" err="1"/>
                <a:t>Execuția</a:t>
              </a:r>
              <a:r>
                <a:rPr lang="en-US" sz="2000" dirty="0"/>
                <a:t> are loc </a:t>
              </a:r>
              <a:r>
                <a:rPr lang="en-US" sz="2000" dirty="0" err="1"/>
                <a:t>într</a:t>
              </a:r>
              <a:r>
                <a:rPr lang="en-US" sz="2000" dirty="0"/>
                <a:t>-un </a:t>
              </a:r>
              <a:r>
                <a:rPr lang="en-US" sz="2000" dirty="0" err="1"/>
                <a:t>mediu</a:t>
              </a:r>
              <a:r>
                <a:rPr lang="en-US" sz="2000" dirty="0"/>
                <a:t> </a:t>
              </a:r>
              <a:r>
                <a:rPr lang="en-US" sz="2000" dirty="0" err="1"/>
                <a:t>izolat</a:t>
              </a:r>
              <a:r>
                <a:rPr lang="en-US" sz="2000" dirty="0"/>
                <a:t>, </a:t>
              </a:r>
              <a:r>
                <a:rPr lang="en-US" sz="2000" dirty="0" err="1"/>
                <a:t>pentru</a:t>
              </a:r>
              <a:r>
                <a:rPr lang="en-US" sz="2000" dirty="0"/>
                <a:t> a </a:t>
              </a:r>
              <a:r>
                <a:rPr lang="en-US" sz="2000" dirty="0" err="1"/>
                <a:t>preveni</a:t>
              </a:r>
              <a:r>
                <a:rPr lang="en-US" sz="2000" dirty="0"/>
                <a:t> </a:t>
              </a:r>
              <a:r>
                <a:rPr lang="en-US" sz="2000" dirty="0" err="1"/>
                <a:t>abuzurile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Sunt </a:t>
              </a:r>
              <a:r>
                <a:rPr lang="en-US" sz="2000" dirty="0" err="1"/>
                <a:t>impuse</a:t>
              </a:r>
              <a:r>
                <a:rPr lang="en-US" sz="2000" dirty="0"/>
                <a:t> </a:t>
              </a:r>
              <a:r>
                <a:rPr lang="en-US" sz="2000" dirty="0" err="1"/>
                <a:t>limite</a:t>
              </a:r>
              <a:r>
                <a:rPr lang="en-US" sz="2000" dirty="0"/>
                <a:t> </a:t>
              </a:r>
              <a:r>
                <a:rPr lang="en-US" sz="2000" dirty="0" err="1"/>
                <a:t>stricte</a:t>
              </a:r>
              <a:r>
                <a:rPr lang="en-US" sz="2000" dirty="0"/>
                <a:t> de </a:t>
              </a:r>
              <a:r>
                <a:rPr lang="en-US" sz="2000" dirty="0" err="1"/>
                <a:t>memorie</a:t>
              </a:r>
              <a:r>
                <a:rPr lang="en-US" sz="2000" dirty="0"/>
                <a:t>, </a:t>
              </a:r>
              <a:r>
                <a:rPr lang="en-US" sz="2000" dirty="0" err="1"/>
                <a:t>timp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procese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Nu </a:t>
              </a:r>
              <a:r>
                <a:rPr lang="en-US" sz="2000" dirty="0" err="1"/>
                <a:t>există</a:t>
              </a:r>
              <a:r>
                <a:rPr lang="en-US" sz="2000" dirty="0"/>
                <a:t> </a:t>
              </a:r>
              <a:r>
                <a:rPr lang="en-US" sz="2000" dirty="0" err="1"/>
                <a:t>acces</a:t>
              </a:r>
              <a:r>
                <a:rPr lang="en-US" sz="2000" dirty="0"/>
                <a:t> la </a:t>
              </a:r>
              <a:r>
                <a:rPr lang="en-US" sz="2000" dirty="0" err="1"/>
                <a:t>rețea</a:t>
              </a:r>
              <a:r>
                <a:rPr lang="en-US" sz="2000" dirty="0"/>
                <a:t> din </a:t>
              </a:r>
              <a:r>
                <a:rPr lang="en-US" sz="2000" dirty="0" err="1"/>
                <a:t>interiorul</a:t>
              </a:r>
              <a:r>
                <a:rPr lang="en-US" sz="2000" dirty="0"/>
                <a:t> sandbox-</a:t>
              </a:r>
              <a:r>
                <a:rPr lang="en-US" sz="2000" dirty="0" err="1"/>
                <a:t>ului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Sistemul</a:t>
              </a:r>
              <a:r>
                <a:rPr lang="en-US" sz="2000" dirty="0"/>
                <a:t> </a:t>
              </a:r>
              <a:r>
                <a:rPr lang="en-US" sz="2000" dirty="0" err="1"/>
                <a:t>suportă</a:t>
              </a:r>
              <a:r>
                <a:rPr lang="en-US" sz="2000" dirty="0"/>
                <a:t> </a:t>
              </a:r>
              <a:r>
                <a:rPr lang="en-US" sz="2000" dirty="0" err="1"/>
                <a:t>atât</a:t>
              </a:r>
              <a:r>
                <a:rPr lang="en-US" sz="2000" dirty="0"/>
                <a:t> Python, </a:t>
              </a:r>
              <a:r>
                <a:rPr lang="en-US" sz="2000" dirty="0" err="1"/>
                <a:t>cât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C++.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FACE591-2FC5-FEE6-47B9-1AB64B99DE7E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Execuția</a:t>
            </a:r>
            <a:r>
              <a:rPr lang="en-US" sz="2800" b="1" dirty="0"/>
              <a:t> </a:t>
            </a:r>
            <a:r>
              <a:rPr lang="en-US" sz="2800" b="1" dirty="0" err="1"/>
              <a:t>codului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288560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89634-999F-F46E-FF54-0341F9A9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6E20462-819B-B988-5F60-AC5DA5FEF768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C7A007-38E9-D104-72E7-E36C02AAD993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C944A5-7C9E-1EC5-8C66-7E6DBC0BCBAC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96A8FD-0E6E-AC15-1A24-64AF191C7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982468-59C2-388E-C375-09CB936443DF}"/>
              </a:ext>
            </a:extLst>
          </p:cNvPr>
          <p:cNvGrpSpPr/>
          <p:nvPr/>
        </p:nvGrpSpPr>
        <p:grpSpPr>
          <a:xfrm>
            <a:off x="5915421" y="2312840"/>
            <a:ext cx="5896579" cy="4087960"/>
            <a:chOff x="5834401" y="0"/>
            <a:chExt cx="3182544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1E8500-3ECA-D689-DB8B-FF2A0288FEC5}"/>
                </a:ext>
              </a:extLst>
            </p:cNvPr>
            <p:cNvSpPr/>
            <p:nvPr/>
          </p:nvSpPr>
          <p:spPr>
            <a:xfrm>
              <a:off x="5834401" y="0"/>
              <a:ext cx="3182540" cy="3725612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38C363-3E78-91C5-8EA4-406879FC067B}"/>
                </a:ext>
              </a:extLst>
            </p:cNvPr>
            <p:cNvSpPr txBox="1"/>
            <p:nvPr/>
          </p:nvSpPr>
          <p:spPr>
            <a:xfrm>
              <a:off x="5834405" y="249517"/>
              <a:ext cx="3182540" cy="22353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Platforma</a:t>
              </a:r>
              <a:r>
                <a:rPr lang="en-US" sz="2000" dirty="0"/>
                <a:t> </a:t>
              </a:r>
              <a:r>
                <a:rPr lang="en-US" sz="2000" dirty="0" err="1"/>
                <a:t>utilizează</a:t>
              </a:r>
              <a:r>
                <a:rPr lang="en-US" sz="2000" dirty="0"/>
                <a:t> un model LLM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evaluarea</a:t>
              </a:r>
              <a:r>
                <a:rPr lang="en-US" sz="2000" dirty="0"/>
                <a:t> </a:t>
              </a:r>
              <a:r>
                <a:rPr lang="en-US" sz="2000" dirty="0" err="1"/>
                <a:t>codului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Acesta</a:t>
              </a:r>
              <a:r>
                <a:rPr lang="en-US" sz="2000" dirty="0"/>
                <a:t> </a:t>
              </a:r>
              <a:r>
                <a:rPr lang="en-US" sz="2000" dirty="0" err="1"/>
                <a:t>oferă</a:t>
              </a:r>
              <a:r>
                <a:rPr lang="en-US" sz="2000" dirty="0"/>
                <a:t> feedback </a:t>
              </a:r>
              <a:r>
                <a:rPr lang="en-US" sz="2000" dirty="0" err="1"/>
                <a:t>detaliat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sugestii</a:t>
              </a:r>
              <a:r>
                <a:rPr lang="en-US" sz="2000" dirty="0"/>
                <a:t> de </a:t>
              </a:r>
              <a:r>
                <a:rPr lang="en-US" sz="2000" dirty="0" err="1"/>
                <a:t>îmbunătățire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Evaluarea</a:t>
              </a:r>
              <a:r>
                <a:rPr lang="en-US" sz="2000" dirty="0"/>
                <a:t> nu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doar</a:t>
              </a:r>
              <a:r>
                <a:rPr lang="en-US" sz="2000" dirty="0"/>
                <a:t> </a:t>
              </a:r>
              <a:r>
                <a:rPr lang="en-US" sz="2000" dirty="0" err="1"/>
                <a:t>corect</a:t>
              </a:r>
              <a:r>
                <a:rPr lang="en-US" sz="2000" dirty="0"/>
                <a:t>/</a:t>
              </a:r>
              <a:r>
                <a:rPr lang="en-US" sz="2000" dirty="0" err="1"/>
                <a:t>greșit</a:t>
              </a:r>
              <a:r>
                <a:rPr lang="en-US" sz="2000" dirty="0"/>
                <a:t>, ci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pedagogică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AI-ul </a:t>
              </a:r>
              <a:r>
                <a:rPr lang="en-US" sz="2000" dirty="0" err="1"/>
                <a:t>contribuie</a:t>
              </a:r>
              <a:r>
                <a:rPr lang="en-US" sz="2000" dirty="0"/>
                <a:t> la </a:t>
              </a:r>
              <a:r>
                <a:rPr lang="en-US" sz="2000" dirty="0" err="1"/>
                <a:t>personalizarea</a:t>
              </a:r>
              <a:r>
                <a:rPr lang="en-US" sz="2000" dirty="0"/>
                <a:t> </a:t>
              </a:r>
              <a:r>
                <a:rPr lang="en-US" sz="2000" dirty="0" err="1"/>
                <a:t>experienței</a:t>
              </a:r>
              <a:r>
                <a:rPr lang="en-US" sz="2000" dirty="0"/>
                <a:t> de </a:t>
              </a:r>
              <a:r>
                <a:rPr lang="en-US" sz="2000" dirty="0" err="1"/>
                <a:t>învățare</a:t>
              </a:r>
              <a:r>
                <a:rPr lang="en-US" sz="2000" dirty="0"/>
                <a:t>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33F1CA9-8A99-C6AB-E3F2-3C36F4482B89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Inteligența</a:t>
            </a:r>
            <a:r>
              <a:rPr lang="en-US" sz="2800" b="1" dirty="0"/>
              <a:t> </a:t>
            </a:r>
            <a:r>
              <a:rPr lang="en-US" sz="2800" b="1" dirty="0" err="1"/>
              <a:t>artificială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5405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F8B41-F09F-D6D4-6833-D29FD9FF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24680F-D275-2E52-2B35-ED2C64982B9D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5D80E2-7EE2-7C76-4C6F-1491A8702262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4A4A0-17BE-9060-8F17-B89CD12B2F56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34094C-3CC0-5C33-D710-531179B93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01549D-8A02-8420-3035-32E6881B809C}"/>
              </a:ext>
            </a:extLst>
          </p:cNvPr>
          <p:cNvGrpSpPr/>
          <p:nvPr/>
        </p:nvGrpSpPr>
        <p:grpSpPr>
          <a:xfrm>
            <a:off x="360141" y="2312840"/>
            <a:ext cx="5896577" cy="4087960"/>
            <a:chOff x="2836073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A54A85-C222-2B34-BF21-E9463AA03C33}"/>
                </a:ext>
              </a:extLst>
            </p:cNvPr>
            <p:cNvSpPr/>
            <p:nvPr/>
          </p:nvSpPr>
          <p:spPr>
            <a:xfrm>
              <a:off x="2836073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D384D0-3366-A0B5-1FA9-074FCE5B9691}"/>
                </a:ext>
              </a:extLst>
            </p:cNvPr>
            <p:cNvSpPr txBox="1"/>
            <p:nvPr/>
          </p:nvSpPr>
          <p:spPr>
            <a:xfrm>
              <a:off x="2836076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Fiecare</a:t>
              </a:r>
              <a:r>
                <a:rPr lang="en-US" sz="2000" dirty="0"/>
                <a:t> </a:t>
              </a:r>
              <a:r>
                <a:rPr lang="en-US" sz="2000" dirty="0" err="1"/>
                <a:t>elev</a:t>
              </a:r>
              <a:r>
                <a:rPr lang="en-US" sz="2000" dirty="0"/>
                <a:t> are un </a:t>
              </a:r>
              <a:r>
                <a:rPr lang="en-US" sz="2000" dirty="0" err="1"/>
                <a:t>profil</a:t>
              </a:r>
              <a:r>
                <a:rPr lang="en-US" sz="2000" dirty="0"/>
                <a:t> </a:t>
              </a:r>
              <a:r>
                <a:rPr lang="en-US" sz="2000" dirty="0" err="1"/>
                <a:t>adaptiv</a:t>
              </a:r>
              <a:r>
                <a:rPr lang="en-US" sz="2000" dirty="0"/>
                <a:t> care </a:t>
              </a:r>
              <a:r>
                <a:rPr lang="en-US" sz="2000" dirty="0" err="1"/>
                <a:t>evoluează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timp.</a:t>
              </a:r>
              <a:br>
                <a:rPr lang="en-US" sz="2000" dirty="0"/>
              </a:br>
              <a:r>
                <a:rPr lang="en-US" sz="2000" dirty="0"/>
                <a:t>Sunt </a:t>
              </a:r>
              <a:r>
                <a:rPr lang="en-US" sz="2000" dirty="0" err="1"/>
                <a:t>analizate</a:t>
              </a:r>
              <a:r>
                <a:rPr lang="en-US" sz="2000" dirty="0"/>
                <a:t> </a:t>
              </a:r>
              <a:r>
                <a:rPr lang="en-US" sz="2000" dirty="0" err="1"/>
                <a:t>performanțele</a:t>
              </a:r>
              <a:r>
                <a:rPr lang="en-US" sz="2000" dirty="0"/>
                <a:t> pe </a:t>
              </a:r>
              <a:r>
                <a:rPr lang="en-US" sz="2000" dirty="0" err="1"/>
                <a:t>diferite</a:t>
              </a:r>
              <a:r>
                <a:rPr lang="en-US" sz="2000" dirty="0"/>
                <a:t> </a:t>
              </a:r>
              <a:r>
                <a:rPr lang="en-US" sz="2000" dirty="0" err="1"/>
                <a:t>tipuri</a:t>
              </a:r>
              <a:r>
                <a:rPr lang="en-US" sz="2000" dirty="0"/>
                <a:t> de </a:t>
              </a:r>
              <a:r>
                <a:rPr lang="en-US" sz="2000" dirty="0" err="1"/>
                <a:t>probleme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Datele</a:t>
              </a:r>
              <a:r>
                <a:rPr lang="en-US" sz="2000" dirty="0"/>
                <a:t> sunt </a:t>
              </a:r>
              <a:r>
                <a:rPr lang="en-US" sz="2000" dirty="0" err="1"/>
                <a:t>stocate</a:t>
              </a:r>
              <a:r>
                <a:rPr lang="en-US" sz="2000" dirty="0"/>
                <a:t> </a:t>
              </a:r>
              <a:r>
                <a:rPr lang="en-US" sz="2000" dirty="0" err="1"/>
                <a:t>într</a:t>
              </a:r>
              <a:r>
                <a:rPr lang="en-US" sz="2000" dirty="0"/>
                <a:t>-un format </a:t>
              </a:r>
              <a:r>
                <a:rPr lang="en-US" sz="2000" dirty="0" err="1"/>
                <a:t>flexibil</a:t>
              </a:r>
              <a:r>
                <a:rPr lang="en-US" sz="2000" dirty="0"/>
                <a:t> (JSONB).</a:t>
              </a:r>
              <a:br>
                <a:rPr lang="en-US" sz="2000" dirty="0"/>
              </a:br>
              <a:r>
                <a:rPr lang="en-US" sz="2000" dirty="0" err="1"/>
                <a:t>Sistemul</a:t>
              </a:r>
              <a:r>
                <a:rPr lang="en-US" sz="2000" dirty="0"/>
                <a:t> </a:t>
              </a:r>
              <a:r>
                <a:rPr lang="en-US" sz="2000" dirty="0" err="1"/>
                <a:t>poate</a:t>
              </a:r>
              <a:r>
                <a:rPr lang="en-US" sz="2000" dirty="0"/>
                <a:t> </a:t>
              </a:r>
              <a:r>
                <a:rPr lang="en-US" sz="2000" dirty="0" err="1"/>
                <a:t>identifica</a:t>
              </a:r>
              <a:r>
                <a:rPr lang="en-US" sz="2000" dirty="0"/>
                <a:t> </a:t>
              </a:r>
              <a:r>
                <a:rPr lang="en-US" sz="2000" dirty="0" err="1"/>
                <a:t>punctele</a:t>
              </a:r>
              <a:r>
                <a:rPr lang="en-US" sz="2000" dirty="0"/>
                <a:t> </a:t>
              </a:r>
              <a:r>
                <a:rPr lang="en-US" sz="2000" dirty="0" err="1"/>
                <a:t>slabe</a:t>
              </a:r>
              <a:r>
                <a:rPr lang="en-US" sz="2000" dirty="0"/>
                <a:t> ale </a:t>
              </a:r>
              <a:r>
                <a:rPr lang="en-US" sz="2000" dirty="0" err="1"/>
                <a:t>utilizatorului</a:t>
              </a:r>
              <a:r>
                <a:rPr lang="en-US" sz="2000" dirty="0"/>
                <a:t>.</a:t>
              </a:r>
            </a:p>
            <a:p>
              <a:r>
                <a:rPr lang="en-US" sz="2000" dirty="0" err="1"/>
                <a:t>Aceste</a:t>
              </a:r>
              <a:r>
                <a:rPr lang="en-US" sz="2000" dirty="0"/>
                <a:t> date </a:t>
              </a:r>
              <a:r>
                <a:rPr lang="en-US" sz="2000" dirty="0" err="1"/>
                <a:t>vor</a:t>
              </a:r>
              <a:r>
                <a:rPr lang="en-US" sz="2000" dirty="0"/>
                <a:t> </a:t>
              </a:r>
              <a:r>
                <a:rPr lang="en-US" sz="2000" dirty="0" err="1"/>
                <a:t>aparea</a:t>
              </a:r>
              <a:r>
                <a:rPr lang="en-US" sz="2000" dirty="0"/>
                <a:t> ]n </a:t>
              </a:r>
              <a:r>
                <a:rPr lang="en-US" sz="2000" dirty="0" err="1"/>
                <a:t>aplica’ia</a:t>
              </a:r>
              <a:r>
                <a:rPr lang="en-US" sz="2000" dirty="0"/>
                <a:t> </a:t>
              </a:r>
              <a:r>
                <a:rPr lang="en-US" sz="2000" dirty="0" err="1"/>
                <a:t>realizat</a:t>
              </a:r>
              <a:r>
                <a:rPr lang="en-US" sz="2000" dirty="0"/>
                <a:t>[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parin’i</a:t>
              </a:r>
              <a:endParaRPr lang="en-US" sz="20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C2F7488-B70B-0756-4911-83E2751ADF91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Profilul</a:t>
            </a:r>
            <a:r>
              <a:rPr lang="en-US" sz="2800" b="1" dirty="0"/>
              <a:t> de </a:t>
            </a:r>
            <a:r>
              <a:rPr lang="en-US" sz="2800" b="1" dirty="0" err="1"/>
              <a:t>învățare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91350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B16B5-0134-C7FD-EA30-2BD5E5DF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2CDCC0-9C5D-4E2C-CC15-4D1CEA2AFAEC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483999-6A85-67A0-1B20-1730FAE162A0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1959EA-939F-B2D9-1572-A02B7B26C4B6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237560-D150-2212-DA6E-55DCF4F05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3F8C881-700C-EA94-F5A3-0AF3569DE1E8}"/>
              </a:ext>
            </a:extLst>
          </p:cNvPr>
          <p:cNvGrpSpPr/>
          <p:nvPr/>
        </p:nvGrpSpPr>
        <p:grpSpPr>
          <a:xfrm>
            <a:off x="5984272" y="2312840"/>
            <a:ext cx="5896577" cy="4087960"/>
            <a:chOff x="5871585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65848F-0655-36E5-54C0-941E0BF143CE}"/>
                </a:ext>
              </a:extLst>
            </p:cNvPr>
            <p:cNvSpPr/>
            <p:nvPr/>
          </p:nvSpPr>
          <p:spPr>
            <a:xfrm>
              <a:off x="5871585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99B2970-F041-D06E-7C71-FBAB9645C4C4}"/>
                </a:ext>
              </a:extLst>
            </p:cNvPr>
            <p:cNvSpPr txBox="1"/>
            <p:nvPr/>
          </p:nvSpPr>
          <p:spPr>
            <a:xfrm>
              <a:off x="5871588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Părinții</a:t>
              </a:r>
              <a:r>
                <a:rPr lang="en-US" sz="2000" dirty="0"/>
                <a:t> pot </a:t>
              </a:r>
              <a:r>
                <a:rPr lang="en-US" sz="2000" dirty="0" err="1"/>
                <a:t>vizualiza</a:t>
              </a:r>
              <a:r>
                <a:rPr lang="en-US" sz="2000" dirty="0"/>
                <a:t> </a:t>
              </a:r>
              <a:r>
                <a:rPr lang="en-US" sz="2000" dirty="0" err="1"/>
                <a:t>progresul</a:t>
              </a:r>
              <a:r>
                <a:rPr lang="en-US" sz="2000" dirty="0"/>
                <a:t> </a:t>
              </a:r>
              <a:r>
                <a:rPr lang="en-US" sz="2000" dirty="0" err="1"/>
                <a:t>copiilor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</a:t>
              </a:r>
              <a:r>
                <a:rPr lang="en-US" sz="2000" dirty="0"/>
                <a:t> real.</a:t>
              </a:r>
              <a:br>
                <a:rPr lang="en-US" sz="2000" dirty="0"/>
              </a:br>
              <a:r>
                <a:rPr lang="en-US" sz="2000" dirty="0"/>
                <a:t>Sunt </a:t>
              </a:r>
              <a:r>
                <a:rPr lang="en-US" sz="2000" dirty="0" err="1"/>
                <a:t>afișate</a:t>
              </a:r>
              <a:r>
                <a:rPr lang="en-US" sz="2000" dirty="0"/>
                <a:t> </a:t>
              </a:r>
              <a:r>
                <a:rPr lang="en-US" sz="2000" dirty="0" err="1"/>
                <a:t>statistici</a:t>
              </a:r>
              <a:r>
                <a:rPr lang="en-US" sz="2000" dirty="0"/>
                <a:t> precum </a:t>
              </a:r>
              <a:r>
                <a:rPr lang="en-US" sz="2000" dirty="0" err="1"/>
                <a:t>scorul</a:t>
              </a:r>
              <a:r>
                <a:rPr lang="en-US" sz="2000" dirty="0"/>
                <a:t> total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numărul</a:t>
              </a:r>
              <a:r>
                <a:rPr lang="en-US" sz="2000" dirty="0"/>
                <a:t> de </a:t>
              </a:r>
              <a:r>
                <a:rPr lang="en-US" sz="2000" dirty="0" err="1"/>
                <a:t>taskuri</a:t>
              </a:r>
              <a:r>
                <a:rPr lang="en-US" sz="2000" dirty="0"/>
                <a:t> </a:t>
              </a:r>
              <a:r>
                <a:rPr lang="en-US" sz="2000" dirty="0" err="1"/>
                <a:t>completate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Se pot seta </a:t>
              </a:r>
              <a:r>
                <a:rPr lang="en-US" sz="2000" dirty="0" err="1"/>
                <a:t>obiective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recompense.</a:t>
              </a:r>
              <a:br>
                <a:rPr lang="en-US" sz="2000" dirty="0"/>
              </a:br>
              <a:r>
                <a:rPr lang="en-US" sz="2000" dirty="0" err="1"/>
                <a:t>Aplicația</a:t>
              </a:r>
              <a:r>
                <a:rPr lang="en-US" sz="2000" dirty="0"/>
                <a:t> </a:t>
              </a:r>
              <a:r>
                <a:rPr lang="en-US" sz="2000" dirty="0" err="1"/>
                <a:t>permite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autentificarea</a:t>
              </a:r>
              <a:r>
                <a:rPr lang="en-US" sz="2000" dirty="0"/>
                <a:t> </a:t>
              </a:r>
              <a:r>
                <a:rPr lang="en-US" sz="2000" dirty="0" err="1"/>
                <a:t>prin</a:t>
              </a:r>
              <a:r>
                <a:rPr lang="en-US" sz="2000" dirty="0"/>
                <a:t> QR.</a:t>
              </a:r>
              <a:br>
                <a:rPr lang="en-US" sz="2000" dirty="0"/>
              </a:br>
              <a:r>
                <a:rPr lang="en-US" sz="2000" dirty="0"/>
                <a:t>Interfața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modernă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reactivă</a:t>
              </a:r>
              <a:r>
                <a:rPr lang="en-US" sz="2000" dirty="0"/>
                <a:t>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B12EA47-7B59-0840-F46A-5A2E4FC3CFEF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Aplicația</a:t>
            </a:r>
            <a:r>
              <a:rPr lang="en-US" sz="2800" b="1" dirty="0"/>
              <a:t> Android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203098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688B8-852D-2B10-E586-4A21D61A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AFE70C-1E1E-988F-7AB4-45EA00F2C8F4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6AEA0B-EAEB-454F-BF83-6CAFD2368E99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B98480-E3A5-5188-1E1A-015D707483CD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C806C1-CFC2-1C9A-6EBC-A6C21D5CF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1134F2-2C34-41E8-D25C-88700ED100C3}"/>
              </a:ext>
            </a:extLst>
          </p:cNvPr>
          <p:cNvGrpSpPr/>
          <p:nvPr/>
        </p:nvGrpSpPr>
        <p:grpSpPr>
          <a:xfrm>
            <a:off x="560515" y="2312840"/>
            <a:ext cx="5896577" cy="4087960"/>
            <a:chOff x="2944243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D8737F-6E88-E820-393D-BE41A209B46F}"/>
                </a:ext>
              </a:extLst>
            </p:cNvPr>
            <p:cNvSpPr/>
            <p:nvPr/>
          </p:nvSpPr>
          <p:spPr>
            <a:xfrm>
              <a:off x="2944243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C5F7F8-D79A-05EC-5CF6-00C58E796C56}"/>
                </a:ext>
              </a:extLst>
            </p:cNvPr>
            <p:cNvSpPr txBox="1"/>
            <p:nvPr/>
          </p:nvSpPr>
          <p:spPr>
            <a:xfrm>
              <a:off x="2944246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Profesorii</a:t>
              </a:r>
              <a:r>
                <a:rPr lang="en-US" sz="2000" dirty="0"/>
                <a:t> pot </a:t>
              </a:r>
              <a:r>
                <a:rPr lang="en-US" sz="2000" dirty="0" err="1"/>
                <a:t>crea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publica </a:t>
              </a:r>
              <a:r>
                <a:rPr lang="en-US" sz="2000" dirty="0" err="1"/>
                <a:t>cursuri</a:t>
              </a:r>
              <a:r>
                <a:rPr lang="en-US" sz="2000" dirty="0"/>
                <a:t> direct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platformă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Sistemul</a:t>
              </a:r>
              <a:r>
                <a:rPr lang="en-US" sz="2000" dirty="0"/>
                <a:t> </a:t>
              </a:r>
              <a:r>
                <a:rPr lang="en-US" sz="2000" dirty="0" err="1"/>
                <a:t>permite</a:t>
              </a:r>
              <a:r>
                <a:rPr lang="en-US" sz="2000" dirty="0"/>
                <a:t> </a:t>
              </a:r>
              <a:r>
                <a:rPr lang="en-US" sz="2000" dirty="0" err="1"/>
                <a:t>gestionarea</a:t>
              </a:r>
              <a:r>
                <a:rPr lang="en-US" sz="2000" dirty="0"/>
                <a:t> </a:t>
              </a:r>
              <a:r>
                <a:rPr lang="en-US" sz="2000" dirty="0" err="1"/>
                <a:t>întrebărilor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evaluărilor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Cursurile</a:t>
              </a:r>
              <a:r>
                <a:rPr lang="en-US" sz="2000" dirty="0"/>
                <a:t> sunt integrate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joc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accesibile</a:t>
              </a:r>
              <a:r>
                <a:rPr lang="en-US" sz="2000" dirty="0"/>
                <a:t> </a:t>
              </a:r>
              <a:r>
                <a:rPr lang="en-US" sz="2000" dirty="0" err="1"/>
                <a:t>elevilor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Logica de </a:t>
              </a:r>
              <a:r>
                <a:rPr lang="en-US" sz="2000" dirty="0" err="1"/>
                <a:t>validare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implementată</a:t>
              </a:r>
              <a:r>
                <a:rPr lang="en-US" sz="2000" dirty="0"/>
                <a:t> pe server.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AB4FA45-5A38-DC98-A888-7345054FF5A2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Editorul</a:t>
            </a:r>
            <a:r>
              <a:rPr lang="en-US" sz="2800" b="1" dirty="0"/>
              <a:t> web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740863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48DA6-ECA6-67C9-19DB-4C059761D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62040-A3CD-5D88-CB65-5E22FF58A14E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E8ABD5-7C6A-2F13-1A12-EBC97589A8FE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21C520-3812-3351-D433-2CC8FF888B18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35936C-CB17-16B8-3EF9-C72DBD892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162481-83DD-AED2-CE25-6D4E9A020287}"/>
              </a:ext>
            </a:extLst>
          </p:cNvPr>
          <p:cNvGrpSpPr/>
          <p:nvPr/>
        </p:nvGrpSpPr>
        <p:grpSpPr>
          <a:xfrm>
            <a:off x="6096960" y="2312840"/>
            <a:ext cx="5896577" cy="4087960"/>
            <a:chOff x="5932430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0629FF-2D18-07FA-D4CD-82C65D509B88}"/>
                </a:ext>
              </a:extLst>
            </p:cNvPr>
            <p:cNvSpPr/>
            <p:nvPr/>
          </p:nvSpPr>
          <p:spPr>
            <a:xfrm>
              <a:off x="5932430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4AFAA4-E983-D817-EC19-BA97E6EAA0A3}"/>
                </a:ext>
              </a:extLst>
            </p:cNvPr>
            <p:cNvSpPr txBox="1"/>
            <p:nvPr/>
          </p:nvSpPr>
          <p:spPr>
            <a:xfrm>
              <a:off x="5932433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Comunicarea</a:t>
              </a:r>
              <a:r>
                <a:rPr lang="en-US" sz="2000" dirty="0"/>
                <a:t> se face </a:t>
              </a:r>
              <a:r>
                <a:rPr lang="en-US" sz="2000" dirty="0" err="1"/>
                <a:t>prin</a:t>
              </a:r>
              <a:r>
                <a:rPr lang="en-US" sz="2000" dirty="0"/>
                <a:t> WebSocket cu protocol </a:t>
              </a:r>
              <a:r>
                <a:rPr lang="en-US" sz="2000" dirty="0" err="1"/>
                <a:t>binar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Datele</a:t>
              </a:r>
              <a:r>
                <a:rPr lang="en-US" sz="2000" dirty="0"/>
                <a:t> sunt </a:t>
              </a:r>
              <a:r>
                <a:rPr lang="en-US" sz="2000" dirty="0" err="1"/>
                <a:t>criptate</a:t>
              </a:r>
              <a:r>
                <a:rPr lang="en-US" sz="2000" dirty="0"/>
                <a:t> </a:t>
              </a:r>
              <a:r>
                <a:rPr lang="en-US" sz="2000" dirty="0" err="1"/>
                <a:t>folosind</a:t>
              </a:r>
              <a:r>
                <a:rPr lang="en-US" sz="2000" dirty="0"/>
                <a:t> AES-256-CBC.</a:t>
              </a:r>
              <a:br>
                <a:rPr lang="en-US" sz="2000" dirty="0"/>
              </a:br>
              <a:r>
                <a:rPr lang="en-US" sz="2000" dirty="0" err="1"/>
                <a:t>Fiecare</a:t>
              </a:r>
              <a:r>
                <a:rPr lang="en-US" sz="2000" dirty="0"/>
                <a:t> </a:t>
              </a:r>
              <a:r>
                <a:rPr lang="en-US" sz="2000" dirty="0" err="1"/>
                <a:t>mesaj</a:t>
              </a:r>
              <a:r>
                <a:rPr lang="en-US" sz="2000" dirty="0"/>
                <a:t> </a:t>
              </a:r>
              <a:r>
                <a:rPr lang="en-US" sz="2000" dirty="0" err="1"/>
                <a:t>folosește</a:t>
              </a:r>
              <a:r>
                <a:rPr lang="en-US" sz="2000" dirty="0"/>
                <a:t> un vector de </a:t>
              </a:r>
              <a:r>
                <a:rPr lang="en-US" sz="2000" dirty="0" err="1"/>
                <a:t>inițializare</a:t>
              </a:r>
              <a:r>
                <a:rPr lang="en-US" sz="2000" dirty="0"/>
                <a:t> </a:t>
              </a:r>
              <a:r>
                <a:rPr lang="en-US" sz="2000" dirty="0" err="1"/>
                <a:t>unic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Sistemul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protejat</a:t>
              </a:r>
              <a:r>
                <a:rPr lang="en-US" sz="2000" dirty="0"/>
                <a:t> </a:t>
              </a:r>
              <a:r>
                <a:rPr lang="en-US" sz="2000" dirty="0" err="1"/>
                <a:t>împotriva</a:t>
              </a:r>
              <a:r>
                <a:rPr lang="en-US" sz="2000" dirty="0"/>
                <a:t> </a:t>
              </a:r>
              <a:r>
                <a:rPr lang="en-US" sz="2000" dirty="0" err="1"/>
                <a:t>atacurilor</a:t>
              </a:r>
              <a:r>
                <a:rPr lang="en-US" sz="2000" dirty="0"/>
                <a:t> de tip replay.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4733408-0A59-EFE6-8FAD-D89706D62BC8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Securitate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791461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4ABD3-35EF-2293-545D-3BCB4456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4830AC-D7BA-040D-23D0-EDC0936BF8A0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F52147-608A-B2EA-00CD-8A3B82B05EF3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751B02-8A11-9415-2BD0-C2071A73A602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A13F3B-C40E-97BC-EDDB-8C68E69D7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B0A42C-6041-0478-A34E-7F532CAD3A67}"/>
              </a:ext>
            </a:extLst>
          </p:cNvPr>
          <p:cNvGrpSpPr/>
          <p:nvPr/>
        </p:nvGrpSpPr>
        <p:grpSpPr>
          <a:xfrm>
            <a:off x="422683" y="2312840"/>
            <a:ext cx="5896577" cy="4087960"/>
            <a:chOff x="2869876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F97645-DB7F-0DA9-57FE-A195F4587751}"/>
                </a:ext>
              </a:extLst>
            </p:cNvPr>
            <p:cNvSpPr/>
            <p:nvPr/>
          </p:nvSpPr>
          <p:spPr>
            <a:xfrm>
              <a:off x="2869876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F4A1AC-1958-FF9A-0FBA-8DA391DAB700}"/>
                </a:ext>
              </a:extLst>
            </p:cNvPr>
            <p:cNvSpPr txBox="1"/>
            <p:nvPr/>
          </p:nvSpPr>
          <p:spPr>
            <a:xfrm>
              <a:off x="2869879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Elevii</a:t>
              </a:r>
              <a:r>
                <a:rPr lang="en-US" sz="2000" dirty="0"/>
                <a:t> </a:t>
              </a:r>
              <a:r>
                <a:rPr lang="en-US" sz="2000" dirty="0" err="1"/>
                <a:t>rezolvă</a:t>
              </a:r>
              <a:r>
                <a:rPr lang="en-US" sz="2000" dirty="0"/>
                <a:t> </a:t>
              </a:r>
              <a:r>
                <a:rPr lang="en-US" sz="2000" dirty="0" err="1"/>
                <a:t>taskuri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a </a:t>
              </a:r>
              <a:r>
                <a:rPr lang="en-US" sz="2000" dirty="0" err="1"/>
                <a:t>obține</a:t>
              </a:r>
              <a:r>
                <a:rPr lang="en-US" sz="2000" dirty="0"/>
                <a:t> </a:t>
              </a:r>
              <a:r>
                <a:rPr lang="en-US" sz="2000" dirty="0" err="1"/>
                <a:t>puncte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Există</a:t>
              </a:r>
              <a:r>
                <a:rPr lang="en-US" sz="2000" dirty="0"/>
                <a:t> </a:t>
              </a:r>
              <a:r>
                <a:rPr lang="en-US" sz="2000" dirty="0" err="1"/>
                <a:t>obiective</a:t>
              </a:r>
              <a:r>
                <a:rPr lang="en-US" sz="2000" dirty="0"/>
                <a:t> definite de </a:t>
              </a:r>
              <a:r>
                <a:rPr lang="en-US" sz="2000" dirty="0" err="1"/>
                <a:t>părinți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Progresul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verificat</a:t>
              </a:r>
              <a:r>
                <a:rPr lang="en-US" sz="2000" dirty="0"/>
                <a:t> pe server, nu pe client.</a:t>
              </a:r>
              <a:br>
                <a:rPr lang="en-US" sz="2000" dirty="0"/>
              </a:br>
              <a:r>
                <a:rPr lang="en-US" sz="2000" dirty="0" err="1"/>
                <a:t>Actualizările</a:t>
              </a:r>
              <a:r>
                <a:rPr lang="en-US" sz="2000" dirty="0"/>
                <a:t> sunt </a:t>
              </a:r>
              <a:r>
                <a:rPr lang="en-US" sz="2000" dirty="0" err="1"/>
                <a:t>trimise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</a:t>
              </a:r>
              <a:r>
                <a:rPr lang="en-US" sz="2000" dirty="0"/>
                <a:t> real </a:t>
              </a:r>
              <a:r>
                <a:rPr lang="en-US" sz="2000" dirty="0" err="1"/>
                <a:t>către</a:t>
              </a:r>
              <a:r>
                <a:rPr lang="en-US" sz="2000" dirty="0"/>
                <a:t> </a:t>
              </a:r>
              <a:r>
                <a:rPr lang="en-US" sz="2000" dirty="0" err="1"/>
                <a:t>utilizatori</a:t>
              </a:r>
              <a:r>
                <a:rPr lang="en-US" sz="2000" dirty="0"/>
                <a:t>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93168E-6BFB-887E-E2F8-446ADB662A2D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Sistemul</a:t>
            </a:r>
            <a:r>
              <a:rPr lang="en-US" sz="2800" b="1" dirty="0"/>
              <a:t> de </a:t>
            </a:r>
            <a:r>
              <a:rPr lang="en-US" sz="2800" b="1" dirty="0" err="1"/>
              <a:t>taskuri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479702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7979E-DBBA-61CE-ADC5-D768FE54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0CAD8F-2A59-D0C6-9365-84550BA77A20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1CFBCD-C11F-89E2-5CD2-386E32D960A6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70EBA1-E3A1-98CF-B177-89A995BCB71E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BAD988-B776-AD6C-9267-18FAE4935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2C9532-1FDA-AD81-B1FE-6634901D4ABB}"/>
              </a:ext>
            </a:extLst>
          </p:cNvPr>
          <p:cNvGrpSpPr/>
          <p:nvPr/>
        </p:nvGrpSpPr>
        <p:grpSpPr>
          <a:xfrm>
            <a:off x="422683" y="2312840"/>
            <a:ext cx="5896577" cy="4087960"/>
            <a:chOff x="2869876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C3DB87-2585-F9BA-998F-AD5150F64FA3}"/>
                </a:ext>
              </a:extLst>
            </p:cNvPr>
            <p:cNvSpPr/>
            <p:nvPr/>
          </p:nvSpPr>
          <p:spPr>
            <a:xfrm>
              <a:off x="2869876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404FD6-F1BF-BEA4-20CD-48DCE8ABB000}"/>
                </a:ext>
              </a:extLst>
            </p:cNvPr>
            <p:cNvSpPr txBox="1"/>
            <p:nvPr/>
          </p:nvSpPr>
          <p:spPr>
            <a:xfrm>
              <a:off x="2869879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Platforma</a:t>
              </a:r>
              <a:r>
                <a:rPr lang="en-US" sz="2000" dirty="0"/>
                <a:t> a </a:t>
              </a:r>
              <a:r>
                <a:rPr lang="en-US" sz="2000" dirty="0" err="1"/>
                <a:t>fost</a:t>
              </a:r>
              <a:r>
                <a:rPr lang="en-US" sz="2000" dirty="0"/>
                <a:t> </a:t>
              </a:r>
              <a:r>
                <a:rPr lang="en-US" sz="2000" dirty="0" err="1"/>
                <a:t>testată</a:t>
              </a:r>
              <a:r>
                <a:rPr lang="en-US" sz="2000" dirty="0"/>
                <a:t> cu </a:t>
              </a:r>
              <a:r>
                <a:rPr lang="en-US" sz="2000" dirty="0" err="1"/>
                <a:t>utilizatori</a:t>
              </a:r>
              <a:r>
                <a:rPr lang="en-US" sz="2000" dirty="0"/>
                <a:t> </a:t>
              </a:r>
              <a:r>
                <a:rPr lang="en-US" sz="2000" dirty="0" err="1"/>
                <a:t>reali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S-au </a:t>
              </a:r>
              <a:r>
                <a:rPr lang="en-US" sz="2000" dirty="0" err="1"/>
                <a:t>înregistrat</a:t>
              </a:r>
              <a:r>
                <a:rPr lang="en-US" sz="2000" dirty="0"/>
                <a:t> </a:t>
              </a:r>
              <a:r>
                <a:rPr lang="en-US" sz="2000" dirty="0" err="1"/>
                <a:t>zeci</a:t>
              </a:r>
              <a:r>
                <a:rPr lang="en-US" sz="2000" dirty="0"/>
                <a:t> de </a:t>
              </a:r>
              <a:r>
                <a:rPr lang="en-US" sz="2000" dirty="0" err="1"/>
                <a:t>taskuri</a:t>
              </a:r>
              <a:r>
                <a:rPr lang="en-US" sz="2000" dirty="0"/>
                <a:t> </a:t>
              </a:r>
              <a:r>
                <a:rPr lang="en-US" sz="2000" dirty="0" err="1"/>
                <a:t>completate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Scorurile</a:t>
              </a:r>
              <a:r>
                <a:rPr lang="en-US" sz="2000" dirty="0"/>
                <a:t> au </a:t>
              </a:r>
              <a:r>
                <a:rPr lang="en-US" sz="2000" dirty="0" err="1"/>
                <a:t>arătat</a:t>
              </a:r>
              <a:r>
                <a:rPr lang="en-US" sz="2000" dirty="0"/>
                <a:t> </a:t>
              </a:r>
              <a:r>
                <a:rPr lang="en-US" sz="2000" dirty="0" err="1"/>
                <a:t>progres</a:t>
              </a:r>
              <a:r>
                <a:rPr lang="en-US" sz="2000" dirty="0"/>
                <a:t> </a:t>
              </a:r>
              <a:r>
                <a:rPr lang="en-US" sz="2000" dirty="0" err="1"/>
                <a:t>semnificativ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timp.</a:t>
              </a:r>
              <a:br>
                <a:rPr lang="en-US" sz="2000" dirty="0"/>
              </a:br>
              <a:r>
                <a:rPr lang="en-US" sz="2000" dirty="0" err="1"/>
                <a:t>Sistemul</a:t>
              </a:r>
              <a:r>
                <a:rPr lang="en-US" sz="2000" dirty="0"/>
                <a:t> a </a:t>
              </a:r>
              <a:r>
                <a:rPr lang="en-US" sz="2000" dirty="0" err="1"/>
                <a:t>funcționat</a:t>
              </a:r>
              <a:r>
                <a:rPr lang="en-US" sz="2000" dirty="0"/>
                <a:t> </a:t>
              </a:r>
              <a:r>
                <a:rPr lang="en-US" sz="2000" dirty="0" err="1"/>
                <a:t>stabil</a:t>
              </a:r>
              <a:r>
                <a:rPr lang="en-US" sz="2000" dirty="0"/>
                <a:t> pe </a:t>
              </a:r>
              <a:r>
                <a:rPr lang="en-US" sz="2000" dirty="0" err="1"/>
                <a:t>durata</a:t>
              </a:r>
              <a:r>
                <a:rPr lang="en-US" sz="2000" dirty="0"/>
                <a:t> </a:t>
              </a:r>
              <a:r>
                <a:rPr lang="en-US" sz="2000" dirty="0" err="1"/>
                <a:t>testelor</a:t>
              </a:r>
              <a:r>
                <a:rPr lang="en-US" sz="2000" dirty="0"/>
                <a:t>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24A05DE-E508-BD8F-5C05-7EE4C6538E0A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Rezultate</a:t>
            </a:r>
            <a:r>
              <a:rPr lang="en-US" sz="2800" b="1" dirty="0"/>
              <a:t> </a:t>
            </a:r>
            <a:r>
              <a:rPr lang="en-US" sz="2800" b="1" dirty="0" err="1"/>
              <a:t>experimentale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463811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64DE6-5D90-5AA0-A5CB-729C6306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E0EB201-0DA6-0CD5-CF70-B9ED2E94D9C2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DC9F27-B50A-545A-2BA0-120818D6C2A5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D95B57-4CC9-1F84-B40A-325BD5CBD741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8C0296-8D5B-CDAF-A852-7D9BA266D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60846E-8768-ED19-0D6A-D457775CB19A}"/>
              </a:ext>
            </a:extLst>
          </p:cNvPr>
          <p:cNvGrpSpPr/>
          <p:nvPr/>
        </p:nvGrpSpPr>
        <p:grpSpPr>
          <a:xfrm>
            <a:off x="422683" y="2312840"/>
            <a:ext cx="5896577" cy="4087960"/>
            <a:chOff x="2869876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A0188C-707E-8B33-E0A1-33273013AB42}"/>
                </a:ext>
              </a:extLst>
            </p:cNvPr>
            <p:cNvSpPr/>
            <p:nvPr/>
          </p:nvSpPr>
          <p:spPr>
            <a:xfrm>
              <a:off x="2869876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6BD8B4-D478-8B3A-A421-8C7D2E6A8B18}"/>
                </a:ext>
              </a:extLst>
            </p:cNvPr>
            <p:cNvSpPr txBox="1"/>
            <p:nvPr/>
          </p:nvSpPr>
          <p:spPr>
            <a:xfrm>
              <a:off x="2869879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Execuția</a:t>
              </a:r>
              <a:r>
                <a:rPr lang="en-US" sz="2000" dirty="0"/>
                <a:t> </a:t>
              </a:r>
              <a:r>
                <a:rPr lang="en-US" sz="2000" dirty="0" err="1"/>
                <a:t>codului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rapidă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eficientă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Nu au </a:t>
              </a:r>
              <a:r>
                <a:rPr lang="en-US" sz="2000" dirty="0" err="1"/>
                <a:t>fost</a:t>
              </a:r>
              <a:r>
                <a:rPr lang="en-US" sz="2000" dirty="0"/>
                <a:t> </a:t>
              </a:r>
              <a:r>
                <a:rPr lang="en-US" sz="2000" dirty="0" err="1"/>
                <a:t>înregistrate</a:t>
              </a:r>
              <a:r>
                <a:rPr lang="en-US" sz="2000" dirty="0"/>
                <a:t> </a:t>
              </a:r>
              <a:r>
                <a:rPr lang="en-US" sz="2000" dirty="0" err="1"/>
                <a:t>blocaje</a:t>
              </a:r>
              <a:r>
                <a:rPr lang="en-US" sz="2000" dirty="0"/>
                <a:t> </a:t>
              </a:r>
              <a:r>
                <a:rPr lang="en-US" sz="2000" dirty="0" err="1"/>
                <a:t>majore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Sandbox-ul a </a:t>
              </a:r>
              <a:r>
                <a:rPr lang="en-US" sz="2000" dirty="0" err="1"/>
                <a:t>prevenit</a:t>
              </a:r>
              <a:r>
                <a:rPr lang="en-US" sz="2000" dirty="0"/>
                <a:t> </a:t>
              </a:r>
              <a:r>
                <a:rPr lang="en-US" sz="2000" dirty="0" err="1"/>
                <a:t>execuțiile</a:t>
              </a:r>
              <a:r>
                <a:rPr lang="en-US" sz="2000" dirty="0"/>
                <a:t> </a:t>
              </a:r>
              <a:r>
                <a:rPr lang="en-US" sz="2000" dirty="0" err="1"/>
                <a:t>malițioase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Sistemul</a:t>
              </a:r>
              <a:r>
                <a:rPr lang="en-US" sz="2000" dirty="0"/>
                <a:t> </a:t>
              </a:r>
              <a:r>
                <a:rPr lang="en-US" sz="2000" dirty="0" err="1"/>
                <a:t>este</a:t>
              </a:r>
              <a:r>
                <a:rPr lang="en-US" sz="2000" dirty="0"/>
                <a:t> </a:t>
              </a:r>
              <a:r>
                <a:rPr lang="en-US" sz="2000" dirty="0" err="1"/>
                <a:t>scalabil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optimizat</a:t>
              </a:r>
              <a:r>
                <a:rPr lang="en-US" sz="2000" dirty="0"/>
                <a:t>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3F5E141-8049-A2AB-3DED-6E03A73AFCD9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Performanță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977801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E4C47-38BE-ED13-39F6-AAB8DD5A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84A23C-D5C0-63A1-BB86-CD5CEB605BBB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45C3D9-E9E4-C48E-797C-76B2D09D0EBA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CFDB98-A1AF-BB1E-85A5-C43E419AD18A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B7B1B8-4A49-EEF9-0A54-DB7600040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22709D-4D7E-1AE9-CEED-7FE5836780D1}"/>
              </a:ext>
            </a:extLst>
          </p:cNvPr>
          <p:cNvGrpSpPr/>
          <p:nvPr/>
        </p:nvGrpSpPr>
        <p:grpSpPr>
          <a:xfrm>
            <a:off x="422683" y="2312840"/>
            <a:ext cx="5896577" cy="4087960"/>
            <a:chOff x="2869876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3D9E9F-6E44-DBFD-DB9F-98C8991E36EA}"/>
                </a:ext>
              </a:extLst>
            </p:cNvPr>
            <p:cNvSpPr/>
            <p:nvPr/>
          </p:nvSpPr>
          <p:spPr>
            <a:xfrm>
              <a:off x="2869876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53AF50-704F-134E-F610-637190DC541F}"/>
                </a:ext>
              </a:extLst>
            </p:cNvPr>
            <p:cNvSpPr txBox="1"/>
            <p:nvPr/>
          </p:nvSpPr>
          <p:spPr>
            <a:xfrm>
              <a:off x="2869879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 err="1"/>
                <a:t>Proiectul</a:t>
              </a:r>
              <a:r>
                <a:rPr lang="en-US" sz="2000" dirty="0"/>
                <a:t> a </a:t>
              </a:r>
              <a:r>
                <a:rPr lang="en-US" sz="2000" dirty="0" err="1"/>
                <a:t>fost</a:t>
              </a:r>
              <a:r>
                <a:rPr lang="en-US" sz="2000" dirty="0"/>
                <a:t> </a:t>
              </a:r>
              <a:r>
                <a:rPr lang="en-US" sz="2000" dirty="0" err="1"/>
                <a:t>realizat</a:t>
              </a:r>
              <a:r>
                <a:rPr lang="en-US" sz="2000" dirty="0"/>
                <a:t> </a:t>
              </a:r>
              <a:r>
                <a:rPr lang="en-US" sz="2000" dirty="0" err="1"/>
                <a:t>în</a:t>
              </a:r>
              <a:r>
                <a:rPr lang="en-US" sz="2000" dirty="0"/>
                <a:t> </a:t>
              </a:r>
              <a:r>
                <a:rPr lang="en-US" sz="2000" dirty="0" err="1"/>
                <a:t>mai</a:t>
              </a:r>
              <a:r>
                <a:rPr lang="en-US" sz="2000" dirty="0"/>
                <a:t> </a:t>
              </a:r>
              <a:r>
                <a:rPr lang="en-US" sz="2000" dirty="0" err="1"/>
                <a:t>multe</a:t>
              </a:r>
              <a:r>
                <a:rPr lang="en-US" sz="2000" dirty="0"/>
                <a:t> </a:t>
              </a:r>
              <a:r>
                <a:rPr lang="en-US" sz="2000" dirty="0" err="1"/>
                <a:t>etape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S-a </a:t>
              </a:r>
              <a:r>
                <a:rPr lang="en-US" sz="2000" dirty="0" err="1"/>
                <a:t>început</a:t>
              </a:r>
              <a:r>
                <a:rPr lang="en-US" sz="2000" dirty="0"/>
                <a:t> cu </a:t>
              </a:r>
              <a:r>
                <a:rPr lang="en-US" sz="2000" dirty="0" err="1"/>
                <a:t>analiza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designul</a:t>
              </a:r>
              <a:r>
                <a:rPr lang="en-US" sz="2000" dirty="0"/>
                <a:t> </a:t>
              </a:r>
              <a:r>
                <a:rPr lang="en-US" sz="2000" dirty="0" err="1"/>
                <a:t>arhitectural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A </a:t>
              </a:r>
              <a:r>
                <a:rPr lang="en-US" sz="2000" dirty="0" err="1"/>
                <a:t>urmat</a:t>
              </a:r>
              <a:r>
                <a:rPr lang="en-US" sz="2000" dirty="0"/>
                <a:t> </a:t>
              </a:r>
              <a:r>
                <a:rPr lang="en-US" sz="2000" dirty="0" err="1"/>
                <a:t>implementarea</a:t>
              </a:r>
              <a:r>
                <a:rPr lang="en-US" sz="2000" dirty="0"/>
                <a:t> backend-</a:t>
              </a:r>
              <a:r>
                <a:rPr lang="en-US" sz="2000" dirty="0" err="1"/>
                <a:t>ului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a </a:t>
              </a:r>
              <a:r>
                <a:rPr lang="en-US" sz="2000" dirty="0" err="1"/>
                <a:t>jocului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Ulterior au </a:t>
              </a:r>
              <a:r>
                <a:rPr lang="en-US" sz="2000" dirty="0" err="1"/>
                <a:t>fost</a:t>
              </a:r>
              <a:r>
                <a:rPr lang="en-US" sz="2000" dirty="0"/>
                <a:t> </a:t>
              </a:r>
              <a:r>
                <a:rPr lang="en-US" sz="2000" dirty="0" err="1"/>
                <a:t>dezvoltate</a:t>
              </a:r>
              <a:r>
                <a:rPr lang="en-US" sz="2000" dirty="0"/>
                <a:t> </a:t>
              </a:r>
              <a:r>
                <a:rPr lang="en-US" sz="2000" dirty="0" err="1"/>
                <a:t>aplicațiile</a:t>
              </a:r>
              <a:r>
                <a:rPr lang="en-US" sz="2000" dirty="0"/>
                <a:t> </a:t>
              </a:r>
              <a:r>
                <a:rPr lang="en-US" sz="2000" dirty="0" err="1"/>
                <a:t>auxiliare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 err="1"/>
                <a:t>În</a:t>
              </a:r>
              <a:r>
                <a:rPr lang="en-US" sz="2000" dirty="0"/>
                <a:t> final, </a:t>
              </a:r>
              <a:r>
                <a:rPr lang="en-US" sz="2000" dirty="0" err="1"/>
                <a:t>sistemul</a:t>
              </a:r>
              <a:r>
                <a:rPr lang="en-US" sz="2000" dirty="0"/>
                <a:t> a </a:t>
              </a:r>
              <a:r>
                <a:rPr lang="en-US" sz="2000" dirty="0" err="1"/>
                <a:t>fost</a:t>
              </a:r>
              <a:r>
                <a:rPr lang="en-US" sz="2000" dirty="0"/>
                <a:t> </a:t>
              </a:r>
              <a:r>
                <a:rPr lang="en-US" sz="2000" dirty="0" err="1"/>
                <a:t>testat</a:t>
              </a:r>
              <a:r>
                <a:rPr lang="en-US" sz="2000" dirty="0"/>
                <a:t> </a:t>
              </a:r>
              <a:r>
                <a:rPr lang="en-US" sz="2000" dirty="0" err="1"/>
                <a:t>și</a:t>
              </a:r>
              <a:r>
                <a:rPr lang="en-US" sz="2000" dirty="0"/>
                <a:t> </a:t>
              </a:r>
              <a:r>
                <a:rPr lang="en-US" sz="2000" dirty="0" err="1"/>
                <a:t>optimizat</a:t>
              </a:r>
              <a:r>
                <a:rPr lang="en-US" sz="2000" dirty="0"/>
                <a:t>.</a:t>
              </a:r>
            </a:p>
            <a:p>
              <a:br>
                <a:rPr lang="en-US" sz="2000" dirty="0"/>
              </a:br>
              <a:endParaRPr lang="en-US" sz="20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4122FC6-43F6-2870-F322-C282A8B29E90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Etape</a:t>
            </a:r>
            <a:r>
              <a:rPr lang="en-US" sz="2800" b="1" dirty="0"/>
              <a:t> de </a:t>
            </a:r>
            <a:r>
              <a:rPr lang="en-US" sz="2800" b="1" dirty="0" err="1"/>
              <a:t>dezvoltare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181360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8166F-C5A6-FBD9-2BA3-F624E17A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158E75E-4F1E-1F7B-9613-C20348A78DD4}"/>
              </a:ext>
            </a:extLst>
          </p:cNvPr>
          <p:cNvGrpSpPr/>
          <p:nvPr/>
        </p:nvGrpSpPr>
        <p:grpSpPr>
          <a:xfrm>
            <a:off x="3363238" y="513268"/>
            <a:ext cx="4317769" cy="2073357"/>
            <a:chOff x="785" y="-165752"/>
            <a:chExt cx="4184622" cy="22716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14F5BCF-D769-D5C0-95F5-939BCFD122D5}"/>
                </a:ext>
              </a:extLst>
            </p:cNvPr>
            <p:cNvSpPr/>
            <p:nvPr/>
          </p:nvSpPr>
          <p:spPr>
            <a:xfrm>
              <a:off x="1002867" y="-165752"/>
              <a:ext cx="3182540" cy="960457"/>
            </a:xfrm>
            <a:prstGeom prst="rect">
              <a:avLst/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770BA4-556B-3D18-838F-AE6ACF7EC539}"/>
                </a:ext>
              </a:extLst>
            </p:cNvPr>
            <p:cNvSpPr txBox="1"/>
            <p:nvPr/>
          </p:nvSpPr>
          <p:spPr>
            <a:xfrm>
              <a:off x="785" y="1490245"/>
              <a:ext cx="3182540" cy="615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4D018D9-A5C7-EF06-B41F-B3BC30D19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970" y="382043"/>
            <a:ext cx="2870059" cy="9308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mentora</a:t>
            </a:r>
            <a:endParaRPr lang="en-US" sz="4400" b="1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C5891C-49FE-EF39-75F0-EF2EE1564C04}"/>
              </a:ext>
            </a:extLst>
          </p:cNvPr>
          <p:cNvGrpSpPr/>
          <p:nvPr/>
        </p:nvGrpSpPr>
        <p:grpSpPr>
          <a:xfrm>
            <a:off x="422683" y="2312840"/>
            <a:ext cx="5896577" cy="4087960"/>
            <a:chOff x="2869876" y="0"/>
            <a:chExt cx="3182543" cy="37256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384F926-8F77-E252-871D-7A902EF27232}"/>
                </a:ext>
              </a:extLst>
            </p:cNvPr>
            <p:cNvSpPr/>
            <p:nvPr/>
          </p:nvSpPr>
          <p:spPr>
            <a:xfrm>
              <a:off x="2869876" y="0"/>
              <a:ext cx="3182540" cy="372561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ADF72F4-3F15-931C-5970-5B995003963A}"/>
                </a:ext>
              </a:extLst>
            </p:cNvPr>
            <p:cNvSpPr txBox="1"/>
            <p:nvPr/>
          </p:nvSpPr>
          <p:spPr>
            <a:xfrm>
              <a:off x="2869879" y="249517"/>
              <a:ext cx="3182540" cy="22353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4364" tIns="0" rIns="314364" bIns="330200" numCol="1" spcCol="1270" anchor="t" anchorCtr="0">
              <a:noAutofit/>
            </a:bodyPr>
            <a:lstStyle/>
            <a:p>
              <a:r>
                <a:rPr lang="en-US" sz="2000" dirty="0"/>
                <a:t>Se </a:t>
              </a:r>
              <a:r>
                <a:rPr lang="en-US" sz="2000" dirty="0" err="1"/>
                <a:t>dorește</a:t>
              </a:r>
              <a:r>
                <a:rPr lang="en-US" sz="2000" dirty="0"/>
                <a:t> </a:t>
              </a:r>
              <a:r>
                <a:rPr lang="en-US" sz="2000" dirty="0" err="1"/>
                <a:t>extinderea</a:t>
              </a:r>
              <a:r>
                <a:rPr lang="en-US" sz="2000" dirty="0"/>
                <a:t> </a:t>
              </a:r>
              <a:r>
                <a:rPr lang="en-US" sz="2000" dirty="0" err="1"/>
                <a:t>suportului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</a:t>
              </a:r>
              <a:r>
                <a:rPr lang="en-US" sz="2000" dirty="0" err="1"/>
                <a:t>alte</a:t>
              </a:r>
              <a:r>
                <a:rPr lang="en-US" sz="2000" dirty="0"/>
                <a:t> </a:t>
              </a:r>
              <a:r>
                <a:rPr lang="en-US" sz="2000" dirty="0" err="1"/>
                <a:t>limbaje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Va fi </a:t>
              </a:r>
              <a:r>
                <a:rPr lang="en-US" sz="2000" dirty="0" err="1"/>
                <a:t>implementat</a:t>
              </a:r>
              <a:r>
                <a:rPr lang="en-US" sz="2000" dirty="0"/>
                <a:t> un </a:t>
              </a:r>
              <a:r>
                <a:rPr lang="en-US" sz="2000" dirty="0" err="1"/>
                <a:t>meniu</a:t>
              </a:r>
              <a:r>
                <a:rPr lang="en-US" sz="2000" dirty="0"/>
                <a:t> in care </a:t>
              </a:r>
              <a:r>
                <a:rPr lang="en-US" sz="2000" dirty="0" err="1"/>
                <a:t>profesorii</a:t>
              </a:r>
              <a:r>
                <a:rPr lang="en-US" sz="2000" dirty="0"/>
                <a:t> </a:t>
              </a:r>
              <a:r>
                <a:rPr lang="en-US" sz="2000" dirty="0" err="1"/>
                <a:t>i’i</a:t>
              </a:r>
              <a:r>
                <a:rPr lang="en-US" sz="2000" dirty="0"/>
                <a:t> </a:t>
              </a:r>
              <a:r>
                <a:rPr lang="en-US" sz="2000" dirty="0" err="1"/>
                <a:t>vor</a:t>
              </a:r>
              <a:r>
                <a:rPr lang="en-US" sz="2000" dirty="0"/>
                <a:t> face </a:t>
              </a:r>
              <a:r>
                <a:rPr lang="en-US" sz="2000" dirty="0" err="1"/>
                <a:t>proprile</a:t>
              </a:r>
              <a:r>
                <a:rPr lang="en-US" sz="2000" dirty="0"/>
                <a:t> </a:t>
              </a:r>
              <a:r>
                <a:rPr lang="en-US" sz="2000" dirty="0" err="1"/>
                <a:t>nivele</a:t>
              </a:r>
              <a:r>
                <a:rPr lang="en-US" sz="2000" dirty="0"/>
                <a:t>.</a:t>
              </a:r>
              <a:br>
                <a:rPr lang="en-US" sz="2000" dirty="0"/>
              </a:br>
              <a:r>
                <a:rPr lang="en-US" sz="2000" dirty="0"/>
                <a:t>Se pot integra </a:t>
              </a:r>
              <a:r>
                <a:rPr lang="en-US" sz="2000" dirty="0" err="1"/>
                <a:t>platforme</a:t>
              </a:r>
              <a:r>
                <a:rPr lang="en-US" sz="2000" dirty="0"/>
                <a:t> </a:t>
              </a:r>
              <a:r>
                <a:rPr lang="en-US" sz="2000" dirty="0" err="1"/>
                <a:t>educaționale</a:t>
              </a:r>
              <a:r>
                <a:rPr lang="en-US" sz="2000" dirty="0"/>
                <a:t> externe.</a:t>
              </a:r>
              <a:br>
                <a:rPr lang="en-US" sz="2000" dirty="0"/>
              </a:br>
              <a:r>
                <a:rPr lang="en-US" sz="2000" dirty="0"/>
                <a:t>AI-ul </a:t>
              </a:r>
              <a:r>
                <a:rPr lang="en-US" sz="2000" dirty="0" err="1"/>
                <a:t>poate</a:t>
              </a:r>
              <a:r>
                <a:rPr lang="en-US" sz="2000" dirty="0"/>
                <a:t> fi </a:t>
              </a:r>
              <a:r>
                <a:rPr lang="en-US" sz="2000" dirty="0" err="1"/>
                <a:t>îmbunătățit</a:t>
              </a:r>
              <a:r>
                <a:rPr lang="en-US" sz="2000" dirty="0"/>
                <a:t> </a:t>
              </a:r>
              <a:r>
                <a:rPr lang="en-US" sz="2000" dirty="0" err="1"/>
                <a:t>pentru</a:t>
              </a:r>
              <a:r>
                <a:rPr lang="en-US" sz="2000" dirty="0"/>
                <a:t> feedback </a:t>
              </a:r>
              <a:r>
                <a:rPr lang="en-US" sz="2000" dirty="0" err="1"/>
                <a:t>mai</a:t>
              </a:r>
              <a:r>
                <a:rPr lang="en-US" sz="2000" dirty="0"/>
                <a:t> </a:t>
              </a:r>
              <a:r>
                <a:rPr lang="en-US" sz="2000" dirty="0" err="1"/>
                <a:t>avansat</a:t>
              </a:r>
              <a:r>
                <a:rPr lang="en-US" sz="2000" dirty="0"/>
                <a:t>.</a:t>
              </a:r>
            </a:p>
            <a:p>
              <a:br>
                <a:rPr lang="en-US" sz="2000" dirty="0"/>
              </a:br>
              <a:endParaRPr lang="en-US" sz="20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67F486B-1CDD-24B0-B290-CBCDB1845EC6}"/>
              </a:ext>
            </a:extLst>
          </p:cNvPr>
          <p:cNvSpPr txBox="1"/>
          <p:nvPr/>
        </p:nvSpPr>
        <p:spPr>
          <a:xfrm>
            <a:off x="-1" y="16196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Dezvoltări</a:t>
            </a:r>
            <a:r>
              <a:rPr lang="en-US" sz="2800" b="1" dirty="0"/>
              <a:t> </a:t>
            </a:r>
            <a:r>
              <a:rPr lang="en-US" sz="2800" b="1" dirty="0" err="1"/>
              <a:t>viitoare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67964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42</TotalTime>
  <Words>1105</Words>
  <Application>Microsoft Office PowerPoint</Application>
  <PresentationFormat>Widescreen</PresentationFormat>
  <Paragraphs>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Slice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  <vt:lpstr>mentora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</dc:creator>
  <cp:lastModifiedBy>Edi</cp:lastModifiedBy>
  <cp:revision>6</cp:revision>
  <dcterms:created xsi:type="dcterms:W3CDTF">2026-04-23T19:08:59Z</dcterms:created>
  <dcterms:modified xsi:type="dcterms:W3CDTF">2026-04-23T19:51:15Z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